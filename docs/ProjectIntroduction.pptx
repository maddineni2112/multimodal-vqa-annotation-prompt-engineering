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9" r:id="rId3"/>
    <p:sldId id="270" r:id="rId4"/>
    <p:sldId id="271" r:id="rId5"/>
    <p:sldId id="273" r:id="rId6"/>
    <p:sldId id="274" r:id="rId7"/>
    <p:sldId id="275" r:id="rId8"/>
    <p:sldId id="276" r:id="rId9"/>
    <p:sldId id="257" r:id="rId10"/>
    <p:sldId id="258" r:id="rId11"/>
    <p:sldId id="259" r:id="rId12"/>
    <p:sldId id="260" r:id="rId13"/>
    <p:sldId id="261" r:id="rId14"/>
    <p:sldId id="263" r:id="rId15"/>
    <p:sldId id="277" r:id="rId16"/>
    <p:sldId id="262" r:id="rId17"/>
    <p:sldId id="264" r:id="rId18"/>
    <p:sldId id="266" r:id="rId19"/>
    <p:sldId id="267" r:id="rId20"/>
    <p:sldId id="265" r:id="rId21"/>
    <p:sldId id="27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78FC25-E0C0-46EE-9E1F-D197659F3A26}" v="3" dt="2026-01-14T18:37:28.3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2" d="100"/>
          <a:sy n="102" d="100"/>
        </p:scale>
        <p:origin x="114"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2C980-41A6-FFAB-A69E-6C7B0C9492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AFF3FD6-B8AE-58E3-3C87-E79492F454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1146839-232F-B964-C3D0-351071320883}"/>
              </a:ext>
            </a:extLst>
          </p:cNvPr>
          <p:cNvSpPr>
            <a:spLocks noGrp="1"/>
          </p:cNvSpPr>
          <p:nvPr>
            <p:ph type="dt" sz="half" idx="10"/>
          </p:nvPr>
        </p:nvSpPr>
        <p:spPr/>
        <p:txBody>
          <a:bodyPr/>
          <a:lstStyle/>
          <a:p>
            <a:fld id="{3175E65E-435F-4F0C-A891-2B03ED4424E9}" type="datetimeFigureOut">
              <a:rPr lang="en-US" smtClean="0"/>
              <a:t>1/14/2026</a:t>
            </a:fld>
            <a:endParaRPr lang="en-US"/>
          </a:p>
        </p:txBody>
      </p:sp>
      <p:sp>
        <p:nvSpPr>
          <p:cNvPr id="5" name="Footer Placeholder 4">
            <a:extLst>
              <a:ext uri="{FF2B5EF4-FFF2-40B4-BE49-F238E27FC236}">
                <a16:creationId xmlns:a16="http://schemas.microsoft.com/office/drawing/2014/main" id="{A48D2C45-BFB8-CC90-5DF7-B166FA3910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CD5D57-FFD6-06C3-19A5-A5295740C672}"/>
              </a:ext>
            </a:extLst>
          </p:cNvPr>
          <p:cNvSpPr>
            <a:spLocks noGrp="1"/>
          </p:cNvSpPr>
          <p:nvPr>
            <p:ph type="sldNum" sz="quarter" idx="12"/>
          </p:nvPr>
        </p:nvSpPr>
        <p:spPr/>
        <p:txBody>
          <a:bodyPr/>
          <a:lstStyle/>
          <a:p>
            <a:fld id="{398DE939-A034-4777-B011-720FFFF02954}" type="slidenum">
              <a:rPr lang="en-US" smtClean="0"/>
              <a:t>‹#›</a:t>
            </a:fld>
            <a:endParaRPr lang="en-US"/>
          </a:p>
        </p:txBody>
      </p:sp>
    </p:spTree>
    <p:extLst>
      <p:ext uri="{BB962C8B-B14F-4D97-AF65-F5344CB8AC3E}">
        <p14:creationId xmlns:p14="http://schemas.microsoft.com/office/powerpoint/2010/main" val="28196149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2D754-FF44-56D0-1E41-665586A199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960919-07A0-7741-D3FD-8C35107D1B2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B8941F-5874-5309-8FF7-6FF57605BD9F}"/>
              </a:ext>
            </a:extLst>
          </p:cNvPr>
          <p:cNvSpPr>
            <a:spLocks noGrp="1"/>
          </p:cNvSpPr>
          <p:nvPr>
            <p:ph type="dt" sz="half" idx="10"/>
          </p:nvPr>
        </p:nvSpPr>
        <p:spPr/>
        <p:txBody>
          <a:bodyPr/>
          <a:lstStyle/>
          <a:p>
            <a:fld id="{3175E65E-435F-4F0C-A891-2B03ED4424E9}" type="datetimeFigureOut">
              <a:rPr lang="en-US" smtClean="0"/>
              <a:t>1/14/2026</a:t>
            </a:fld>
            <a:endParaRPr lang="en-US"/>
          </a:p>
        </p:txBody>
      </p:sp>
      <p:sp>
        <p:nvSpPr>
          <p:cNvPr id="5" name="Footer Placeholder 4">
            <a:extLst>
              <a:ext uri="{FF2B5EF4-FFF2-40B4-BE49-F238E27FC236}">
                <a16:creationId xmlns:a16="http://schemas.microsoft.com/office/drawing/2014/main" id="{5DF67770-6E02-5CEB-60BF-A3446A7978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EF6244-E311-7F57-2FD4-B3A067CD04BB}"/>
              </a:ext>
            </a:extLst>
          </p:cNvPr>
          <p:cNvSpPr>
            <a:spLocks noGrp="1"/>
          </p:cNvSpPr>
          <p:nvPr>
            <p:ph type="sldNum" sz="quarter" idx="12"/>
          </p:nvPr>
        </p:nvSpPr>
        <p:spPr/>
        <p:txBody>
          <a:bodyPr/>
          <a:lstStyle/>
          <a:p>
            <a:fld id="{398DE939-A034-4777-B011-720FFFF02954}" type="slidenum">
              <a:rPr lang="en-US" smtClean="0"/>
              <a:t>‹#›</a:t>
            </a:fld>
            <a:endParaRPr lang="en-US"/>
          </a:p>
        </p:txBody>
      </p:sp>
    </p:spTree>
    <p:extLst>
      <p:ext uri="{BB962C8B-B14F-4D97-AF65-F5344CB8AC3E}">
        <p14:creationId xmlns:p14="http://schemas.microsoft.com/office/powerpoint/2010/main" val="2873676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8B1CA-8FB2-BA72-38A7-B41916E4F8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40E90A8-75CF-D977-F02F-E26077BBCAB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8CAB48-9D9A-4CF2-AEA3-ADF61EA885B2}"/>
              </a:ext>
            </a:extLst>
          </p:cNvPr>
          <p:cNvSpPr>
            <a:spLocks noGrp="1"/>
          </p:cNvSpPr>
          <p:nvPr>
            <p:ph type="dt" sz="half" idx="10"/>
          </p:nvPr>
        </p:nvSpPr>
        <p:spPr/>
        <p:txBody>
          <a:bodyPr/>
          <a:lstStyle/>
          <a:p>
            <a:fld id="{3175E65E-435F-4F0C-A891-2B03ED4424E9}" type="datetimeFigureOut">
              <a:rPr lang="en-US" smtClean="0"/>
              <a:t>1/14/2026</a:t>
            </a:fld>
            <a:endParaRPr lang="en-US"/>
          </a:p>
        </p:txBody>
      </p:sp>
      <p:sp>
        <p:nvSpPr>
          <p:cNvPr id="5" name="Footer Placeholder 4">
            <a:extLst>
              <a:ext uri="{FF2B5EF4-FFF2-40B4-BE49-F238E27FC236}">
                <a16:creationId xmlns:a16="http://schemas.microsoft.com/office/drawing/2014/main" id="{1BCB2542-28D1-6303-BD8D-4B11E0E977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EA3EA5-B13F-CA25-A5B1-DE9DF347AF6F}"/>
              </a:ext>
            </a:extLst>
          </p:cNvPr>
          <p:cNvSpPr>
            <a:spLocks noGrp="1"/>
          </p:cNvSpPr>
          <p:nvPr>
            <p:ph type="sldNum" sz="quarter" idx="12"/>
          </p:nvPr>
        </p:nvSpPr>
        <p:spPr/>
        <p:txBody>
          <a:bodyPr/>
          <a:lstStyle/>
          <a:p>
            <a:fld id="{398DE939-A034-4777-B011-720FFFF02954}" type="slidenum">
              <a:rPr lang="en-US" smtClean="0"/>
              <a:t>‹#›</a:t>
            </a:fld>
            <a:endParaRPr lang="en-US"/>
          </a:p>
        </p:txBody>
      </p:sp>
    </p:spTree>
    <p:extLst>
      <p:ext uri="{BB962C8B-B14F-4D97-AF65-F5344CB8AC3E}">
        <p14:creationId xmlns:p14="http://schemas.microsoft.com/office/powerpoint/2010/main" val="3582254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9E991-942C-4B14-B2C5-63A1C7E421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EE55E3-AD17-72F2-48CE-9027D91FBE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7467B19-533F-943D-D252-B25D740C0E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89C4D3F-D310-D47E-0236-3701111DE42A}"/>
              </a:ext>
            </a:extLst>
          </p:cNvPr>
          <p:cNvSpPr>
            <a:spLocks noGrp="1"/>
          </p:cNvSpPr>
          <p:nvPr>
            <p:ph type="dt" sz="half" idx="10"/>
          </p:nvPr>
        </p:nvSpPr>
        <p:spPr/>
        <p:txBody>
          <a:bodyPr/>
          <a:lstStyle/>
          <a:p>
            <a:fld id="{3175E65E-435F-4F0C-A891-2B03ED4424E9}" type="datetimeFigureOut">
              <a:rPr lang="en-US" smtClean="0"/>
              <a:t>1/14/2026</a:t>
            </a:fld>
            <a:endParaRPr lang="en-US"/>
          </a:p>
        </p:txBody>
      </p:sp>
      <p:sp>
        <p:nvSpPr>
          <p:cNvPr id="6" name="Footer Placeholder 5">
            <a:extLst>
              <a:ext uri="{FF2B5EF4-FFF2-40B4-BE49-F238E27FC236}">
                <a16:creationId xmlns:a16="http://schemas.microsoft.com/office/drawing/2014/main" id="{D9E0657A-5A89-09E7-9C85-7E82B9224A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3BDF7D-DF5E-1B7C-2D63-B262D4B2A3A9}"/>
              </a:ext>
            </a:extLst>
          </p:cNvPr>
          <p:cNvSpPr>
            <a:spLocks noGrp="1"/>
          </p:cNvSpPr>
          <p:nvPr>
            <p:ph type="sldNum" sz="quarter" idx="12"/>
          </p:nvPr>
        </p:nvSpPr>
        <p:spPr/>
        <p:txBody>
          <a:bodyPr/>
          <a:lstStyle/>
          <a:p>
            <a:fld id="{398DE939-A034-4777-B011-720FFFF02954}" type="slidenum">
              <a:rPr lang="en-US" smtClean="0"/>
              <a:t>‹#›</a:t>
            </a:fld>
            <a:endParaRPr lang="en-US"/>
          </a:p>
        </p:txBody>
      </p:sp>
    </p:spTree>
    <p:extLst>
      <p:ext uri="{BB962C8B-B14F-4D97-AF65-F5344CB8AC3E}">
        <p14:creationId xmlns:p14="http://schemas.microsoft.com/office/powerpoint/2010/main" val="4021701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DA4C8-AB30-E6BD-BF5D-70E888E7560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DB5894-FC27-BB2C-BF80-47C7998CE9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C28A88-3B82-A0D7-94EF-3BADD7CC824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65B271-8CC6-7A41-7666-2CC44C079A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ADD7B5-2EF8-D576-8F01-AD9E9C4A2D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C9A5A3-D58C-849B-0D8F-CBD92CFD234B}"/>
              </a:ext>
            </a:extLst>
          </p:cNvPr>
          <p:cNvSpPr>
            <a:spLocks noGrp="1"/>
          </p:cNvSpPr>
          <p:nvPr>
            <p:ph type="dt" sz="half" idx="10"/>
          </p:nvPr>
        </p:nvSpPr>
        <p:spPr/>
        <p:txBody>
          <a:bodyPr/>
          <a:lstStyle/>
          <a:p>
            <a:fld id="{3175E65E-435F-4F0C-A891-2B03ED4424E9}" type="datetimeFigureOut">
              <a:rPr lang="en-US" smtClean="0"/>
              <a:t>1/14/2026</a:t>
            </a:fld>
            <a:endParaRPr lang="en-US"/>
          </a:p>
        </p:txBody>
      </p:sp>
      <p:sp>
        <p:nvSpPr>
          <p:cNvPr id="8" name="Footer Placeholder 7">
            <a:extLst>
              <a:ext uri="{FF2B5EF4-FFF2-40B4-BE49-F238E27FC236}">
                <a16:creationId xmlns:a16="http://schemas.microsoft.com/office/drawing/2014/main" id="{759F17D1-E633-45B5-8931-F24C039E5FE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3A30D0B-59D8-4416-18C0-F6D002E8F4BA}"/>
              </a:ext>
            </a:extLst>
          </p:cNvPr>
          <p:cNvSpPr>
            <a:spLocks noGrp="1"/>
          </p:cNvSpPr>
          <p:nvPr>
            <p:ph type="sldNum" sz="quarter" idx="12"/>
          </p:nvPr>
        </p:nvSpPr>
        <p:spPr/>
        <p:txBody>
          <a:bodyPr/>
          <a:lstStyle/>
          <a:p>
            <a:fld id="{398DE939-A034-4777-B011-720FFFF02954}" type="slidenum">
              <a:rPr lang="en-US" smtClean="0"/>
              <a:t>‹#›</a:t>
            </a:fld>
            <a:endParaRPr lang="en-US"/>
          </a:p>
        </p:txBody>
      </p:sp>
    </p:spTree>
    <p:extLst>
      <p:ext uri="{BB962C8B-B14F-4D97-AF65-F5344CB8AC3E}">
        <p14:creationId xmlns:p14="http://schemas.microsoft.com/office/powerpoint/2010/main" val="1154371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07269-EE91-2666-8E11-FBE2B9A4617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592F721-C000-810B-0C71-752DB5AAB258}"/>
              </a:ext>
            </a:extLst>
          </p:cNvPr>
          <p:cNvSpPr>
            <a:spLocks noGrp="1"/>
          </p:cNvSpPr>
          <p:nvPr>
            <p:ph type="dt" sz="half" idx="10"/>
          </p:nvPr>
        </p:nvSpPr>
        <p:spPr/>
        <p:txBody>
          <a:bodyPr/>
          <a:lstStyle/>
          <a:p>
            <a:fld id="{3175E65E-435F-4F0C-A891-2B03ED4424E9}" type="datetimeFigureOut">
              <a:rPr lang="en-US" smtClean="0"/>
              <a:t>1/14/2026</a:t>
            </a:fld>
            <a:endParaRPr lang="en-US"/>
          </a:p>
        </p:txBody>
      </p:sp>
      <p:sp>
        <p:nvSpPr>
          <p:cNvPr id="4" name="Footer Placeholder 3">
            <a:extLst>
              <a:ext uri="{FF2B5EF4-FFF2-40B4-BE49-F238E27FC236}">
                <a16:creationId xmlns:a16="http://schemas.microsoft.com/office/drawing/2014/main" id="{67D6F976-BFAB-98FB-30AE-605458C409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5A1094-3087-546D-C849-EE7351ECCD47}"/>
              </a:ext>
            </a:extLst>
          </p:cNvPr>
          <p:cNvSpPr>
            <a:spLocks noGrp="1"/>
          </p:cNvSpPr>
          <p:nvPr>
            <p:ph type="sldNum" sz="quarter" idx="12"/>
          </p:nvPr>
        </p:nvSpPr>
        <p:spPr/>
        <p:txBody>
          <a:bodyPr/>
          <a:lstStyle/>
          <a:p>
            <a:fld id="{398DE939-A034-4777-B011-720FFFF02954}" type="slidenum">
              <a:rPr lang="en-US" smtClean="0"/>
              <a:t>‹#›</a:t>
            </a:fld>
            <a:endParaRPr lang="en-US"/>
          </a:p>
        </p:txBody>
      </p:sp>
    </p:spTree>
    <p:extLst>
      <p:ext uri="{BB962C8B-B14F-4D97-AF65-F5344CB8AC3E}">
        <p14:creationId xmlns:p14="http://schemas.microsoft.com/office/powerpoint/2010/main" val="839963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E3956D-8B12-4A6A-CE66-18AFC0966B05}"/>
              </a:ext>
            </a:extLst>
          </p:cNvPr>
          <p:cNvSpPr>
            <a:spLocks noGrp="1"/>
          </p:cNvSpPr>
          <p:nvPr>
            <p:ph type="dt" sz="half" idx="10"/>
          </p:nvPr>
        </p:nvSpPr>
        <p:spPr/>
        <p:txBody>
          <a:bodyPr/>
          <a:lstStyle/>
          <a:p>
            <a:fld id="{3175E65E-435F-4F0C-A891-2B03ED4424E9}" type="datetimeFigureOut">
              <a:rPr lang="en-US" smtClean="0"/>
              <a:t>1/14/2026</a:t>
            </a:fld>
            <a:endParaRPr lang="en-US"/>
          </a:p>
        </p:txBody>
      </p:sp>
      <p:sp>
        <p:nvSpPr>
          <p:cNvPr id="3" name="Footer Placeholder 2">
            <a:extLst>
              <a:ext uri="{FF2B5EF4-FFF2-40B4-BE49-F238E27FC236}">
                <a16:creationId xmlns:a16="http://schemas.microsoft.com/office/drawing/2014/main" id="{89AD1165-3512-0C63-B7CF-35D08D02C17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E9D17-1859-71B1-2AC6-E12E468ED805}"/>
              </a:ext>
            </a:extLst>
          </p:cNvPr>
          <p:cNvSpPr>
            <a:spLocks noGrp="1"/>
          </p:cNvSpPr>
          <p:nvPr>
            <p:ph type="sldNum" sz="quarter" idx="12"/>
          </p:nvPr>
        </p:nvSpPr>
        <p:spPr/>
        <p:txBody>
          <a:bodyPr/>
          <a:lstStyle/>
          <a:p>
            <a:fld id="{398DE939-A034-4777-B011-720FFFF02954}" type="slidenum">
              <a:rPr lang="en-US" smtClean="0"/>
              <a:t>‹#›</a:t>
            </a:fld>
            <a:endParaRPr lang="en-US"/>
          </a:p>
        </p:txBody>
      </p:sp>
    </p:spTree>
    <p:extLst>
      <p:ext uri="{BB962C8B-B14F-4D97-AF65-F5344CB8AC3E}">
        <p14:creationId xmlns:p14="http://schemas.microsoft.com/office/powerpoint/2010/main" val="2078137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F601E-0C3A-E6C1-52D0-B2758A0789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734F7E-4FAA-F431-50E1-908F7F7F15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EA66084-7AB3-7DB5-BB94-26FB81904A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22F55D-F7A1-B09C-50AF-30720D903007}"/>
              </a:ext>
            </a:extLst>
          </p:cNvPr>
          <p:cNvSpPr>
            <a:spLocks noGrp="1"/>
          </p:cNvSpPr>
          <p:nvPr>
            <p:ph type="dt" sz="half" idx="10"/>
          </p:nvPr>
        </p:nvSpPr>
        <p:spPr/>
        <p:txBody>
          <a:bodyPr/>
          <a:lstStyle/>
          <a:p>
            <a:fld id="{3175E65E-435F-4F0C-A891-2B03ED4424E9}" type="datetimeFigureOut">
              <a:rPr lang="en-US" smtClean="0"/>
              <a:t>1/14/2026</a:t>
            </a:fld>
            <a:endParaRPr lang="en-US"/>
          </a:p>
        </p:txBody>
      </p:sp>
      <p:sp>
        <p:nvSpPr>
          <p:cNvPr id="6" name="Footer Placeholder 5">
            <a:extLst>
              <a:ext uri="{FF2B5EF4-FFF2-40B4-BE49-F238E27FC236}">
                <a16:creationId xmlns:a16="http://schemas.microsoft.com/office/drawing/2014/main" id="{8FC506B7-4AF9-FCA9-2F5E-FF10DF8529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9CCD8F-BDC6-98D2-6BDD-963560E5C3F2}"/>
              </a:ext>
            </a:extLst>
          </p:cNvPr>
          <p:cNvSpPr>
            <a:spLocks noGrp="1"/>
          </p:cNvSpPr>
          <p:nvPr>
            <p:ph type="sldNum" sz="quarter" idx="12"/>
          </p:nvPr>
        </p:nvSpPr>
        <p:spPr/>
        <p:txBody>
          <a:bodyPr/>
          <a:lstStyle/>
          <a:p>
            <a:fld id="{398DE939-A034-4777-B011-720FFFF02954}" type="slidenum">
              <a:rPr lang="en-US" smtClean="0"/>
              <a:t>‹#›</a:t>
            </a:fld>
            <a:endParaRPr lang="en-US"/>
          </a:p>
        </p:txBody>
      </p:sp>
    </p:spTree>
    <p:extLst>
      <p:ext uri="{BB962C8B-B14F-4D97-AF65-F5344CB8AC3E}">
        <p14:creationId xmlns:p14="http://schemas.microsoft.com/office/powerpoint/2010/main" val="186351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6B3E4-A92C-0D51-E10E-0FBC09E688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07863F2-C009-0AD5-5BEA-8785162BA5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634C85-029D-1C63-D6C5-36CD9FAA0B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7D3506-4CB3-96F1-F185-ADE07CC65C85}"/>
              </a:ext>
            </a:extLst>
          </p:cNvPr>
          <p:cNvSpPr>
            <a:spLocks noGrp="1"/>
          </p:cNvSpPr>
          <p:nvPr>
            <p:ph type="dt" sz="half" idx="10"/>
          </p:nvPr>
        </p:nvSpPr>
        <p:spPr/>
        <p:txBody>
          <a:bodyPr/>
          <a:lstStyle/>
          <a:p>
            <a:fld id="{3175E65E-435F-4F0C-A891-2B03ED4424E9}" type="datetimeFigureOut">
              <a:rPr lang="en-US" smtClean="0"/>
              <a:t>1/14/2026</a:t>
            </a:fld>
            <a:endParaRPr lang="en-US"/>
          </a:p>
        </p:txBody>
      </p:sp>
      <p:sp>
        <p:nvSpPr>
          <p:cNvPr id="6" name="Footer Placeholder 5">
            <a:extLst>
              <a:ext uri="{FF2B5EF4-FFF2-40B4-BE49-F238E27FC236}">
                <a16:creationId xmlns:a16="http://schemas.microsoft.com/office/drawing/2014/main" id="{39779A37-D491-FEE2-BA89-E1FA243120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D69D66-A44F-05CC-F17E-1442D18642CC}"/>
              </a:ext>
            </a:extLst>
          </p:cNvPr>
          <p:cNvSpPr>
            <a:spLocks noGrp="1"/>
          </p:cNvSpPr>
          <p:nvPr>
            <p:ph type="sldNum" sz="quarter" idx="12"/>
          </p:nvPr>
        </p:nvSpPr>
        <p:spPr/>
        <p:txBody>
          <a:bodyPr/>
          <a:lstStyle/>
          <a:p>
            <a:fld id="{398DE939-A034-4777-B011-720FFFF02954}" type="slidenum">
              <a:rPr lang="en-US" smtClean="0"/>
              <a:t>‹#›</a:t>
            </a:fld>
            <a:endParaRPr lang="en-US"/>
          </a:p>
        </p:txBody>
      </p:sp>
    </p:spTree>
    <p:extLst>
      <p:ext uri="{BB962C8B-B14F-4D97-AF65-F5344CB8AC3E}">
        <p14:creationId xmlns:p14="http://schemas.microsoft.com/office/powerpoint/2010/main" val="1494228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C4E8F-0482-3735-7330-6A5F9E518DE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C85E7C-DC71-4317-C9D3-A68BF9BB53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750E5F-D393-C4CF-F0B8-259639E57B21}"/>
              </a:ext>
            </a:extLst>
          </p:cNvPr>
          <p:cNvSpPr>
            <a:spLocks noGrp="1"/>
          </p:cNvSpPr>
          <p:nvPr>
            <p:ph type="dt" sz="half" idx="10"/>
          </p:nvPr>
        </p:nvSpPr>
        <p:spPr/>
        <p:txBody>
          <a:bodyPr/>
          <a:lstStyle/>
          <a:p>
            <a:fld id="{3175E65E-435F-4F0C-A891-2B03ED4424E9}" type="datetimeFigureOut">
              <a:rPr lang="en-US" smtClean="0"/>
              <a:t>1/14/2026</a:t>
            </a:fld>
            <a:endParaRPr lang="en-US"/>
          </a:p>
        </p:txBody>
      </p:sp>
      <p:sp>
        <p:nvSpPr>
          <p:cNvPr id="5" name="Footer Placeholder 4">
            <a:extLst>
              <a:ext uri="{FF2B5EF4-FFF2-40B4-BE49-F238E27FC236}">
                <a16:creationId xmlns:a16="http://schemas.microsoft.com/office/drawing/2014/main" id="{433D1006-977F-6C34-AB08-5BC2C50988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1C5B51-8E16-9293-0479-9CC6DDED8634}"/>
              </a:ext>
            </a:extLst>
          </p:cNvPr>
          <p:cNvSpPr>
            <a:spLocks noGrp="1"/>
          </p:cNvSpPr>
          <p:nvPr>
            <p:ph type="sldNum" sz="quarter" idx="12"/>
          </p:nvPr>
        </p:nvSpPr>
        <p:spPr/>
        <p:txBody>
          <a:bodyPr/>
          <a:lstStyle/>
          <a:p>
            <a:fld id="{398DE939-A034-4777-B011-720FFFF02954}" type="slidenum">
              <a:rPr lang="en-US" smtClean="0"/>
              <a:t>‹#›</a:t>
            </a:fld>
            <a:endParaRPr lang="en-US"/>
          </a:p>
        </p:txBody>
      </p:sp>
    </p:spTree>
    <p:extLst>
      <p:ext uri="{BB962C8B-B14F-4D97-AF65-F5344CB8AC3E}">
        <p14:creationId xmlns:p14="http://schemas.microsoft.com/office/powerpoint/2010/main" val="1461043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18BA63-6A19-4453-C16F-EC4227F0663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16DF1C-F8C2-E5BB-3F91-444E24AB3E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CA4E39-AB4C-57C0-7D46-F8F542430CDC}"/>
              </a:ext>
            </a:extLst>
          </p:cNvPr>
          <p:cNvSpPr>
            <a:spLocks noGrp="1"/>
          </p:cNvSpPr>
          <p:nvPr>
            <p:ph type="dt" sz="half" idx="10"/>
          </p:nvPr>
        </p:nvSpPr>
        <p:spPr/>
        <p:txBody>
          <a:bodyPr/>
          <a:lstStyle/>
          <a:p>
            <a:fld id="{3175E65E-435F-4F0C-A891-2B03ED4424E9}" type="datetimeFigureOut">
              <a:rPr lang="en-US" smtClean="0"/>
              <a:t>1/14/2026</a:t>
            </a:fld>
            <a:endParaRPr lang="en-US"/>
          </a:p>
        </p:txBody>
      </p:sp>
      <p:sp>
        <p:nvSpPr>
          <p:cNvPr id="5" name="Footer Placeholder 4">
            <a:extLst>
              <a:ext uri="{FF2B5EF4-FFF2-40B4-BE49-F238E27FC236}">
                <a16:creationId xmlns:a16="http://schemas.microsoft.com/office/drawing/2014/main" id="{F9555B01-09A5-F7BC-CEDA-0D99567E5E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DC2FF2-B4B1-5B3B-1B86-4D6AD79A83A2}"/>
              </a:ext>
            </a:extLst>
          </p:cNvPr>
          <p:cNvSpPr>
            <a:spLocks noGrp="1"/>
          </p:cNvSpPr>
          <p:nvPr>
            <p:ph type="sldNum" sz="quarter" idx="12"/>
          </p:nvPr>
        </p:nvSpPr>
        <p:spPr/>
        <p:txBody>
          <a:bodyPr/>
          <a:lstStyle/>
          <a:p>
            <a:fld id="{398DE939-A034-4777-B011-720FFFF02954}" type="slidenum">
              <a:rPr lang="en-US" smtClean="0"/>
              <a:t>‹#›</a:t>
            </a:fld>
            <a:endParaRPr lang="en-US"/>
          </a:p>
        </p:txBody>
      </p:sp>
    </p:spTree>
    <p:extLst>
      <p:ext uri="{BB962C8B-B14F-4D97-AF65-F5344CB8AC3E}">
        <p14:creationId xmlns:p14="http://schemas.microsoft.com/office/powerpoint/2010/main" val="3142224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CCC9ED-9850-6011-4923-F1651D62FB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6F9CC9-7E9D-4356-C9DA-EE5BD07EB3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65B439-8B30-EED9-FD7F-94CA7D5AB6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175E65E-435F-4F0C-A891-2B03ED4424E9}" type="datetimeFigureOut">
              <a:rPr lang="en-US" smtClean="0"/>
              <a:t>1/14/2026</a:t>
            </a:fld>
            <a:endParaRPr lang="en-US"/>
          </a:p>
        </p:txBody>
      </p:sp>
      <p:sp>
        <p:nvSpPr>
          <p:cNvPr id="5" name="Footer Placeholder 4">
            <a:extLst>
              <a:ext uri="{FF2B5EF4-FFF2-40B4-BE49-F238E27FC236}">
                <a16:creationId xmlns:a16="http://schemas.microsoft.com/office/drawing/2014/main" id="{E755DD7E-E537-6E22-98E9-7FF96165C5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383DBD4-1228-9868-4DD8-5A95BFB13D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98DE939-A034-4777-B011-720FFFF02954}" type="slidenum">
              <a:rPr lang="en-US" smtClean="0"/>
              <a:t>‹#›</a:t>
            </a:fld>
            <a:endParaRPr lang="en-US"/>
          </a:p>
        </p:txBody>
      </p:sp>
    </p:spTree>
    <p:extLst>
      <p:ext uri="{BB962C8B-B14F-4D97-AF65-F5344CB8AC3E}">
        <p14:creationId xmlns:p14="http://schemas.microsoft.com/office/powerpoint/2010/main" val="20507253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annotate-nlp.streamlit.app/"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55367-9702-AEF3-CB8E-A4E752646F18}"/>
              </a:ext>
            </a:extLst>
          </p:cNvPr>
          <p:cNvSpPr>
            <a:spLocks noGrp="1"/>
          </p:cNvSpPr>
          <p:nvPr>
            <p:ph type="ctrTitle"/>
          </p:nvPr>
        </p:nvSpPr>
        <p:spPr/>
        <p:txBody>
          <a:bodyPr>
            <a:normAutofit/>
          </a:bodyPr>
          <a:lstStyle/>
          <a:p>
            <a:r>
              <a:rPr lang="en-US" dirty="0"/>
              <a:t>Project Intro</a:t>
            </a:r>
          </a:p>
        </p:txBody>
      </p:sp>
      <p:sp>
        <p:nvSpPr>
          <p:cNvPr id="3" name="Subtitle 2">
            <a:extLst>
              <a:ext uri="{FF2B5EF4-FFF2-40B4-BE49-F238E27FC236}">
                <a16:creationId xmlns:a16="http://schemas.microsoft.com/office/drawing/2014/main" id="{3A7B00AC-E137-62E8-9EA4-ECE25377DF5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877044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F7AED-82A4-F97A-6950-A7A5E7BAC4B4}"/>
              </a:ext>
            </a:extLst>
          </p:cNvPr>
          <p:cNvSpPr>
            <a:spLocks noGrp="1"/>
          </p:cNvSpPr>
          <p:nvPr>
            <p:ph type="title"/>
          </p:nvPr>
        </p:nvSpPr>
        <p:spPr/>
        <p:txBody>
          <a:bodyPr/>
          <a:lstStyle/>
          <a:p>
            <a:r>
              <a:rPr lang="en-US" dirty="0"/>
              <a:t>VQA: Visual Question Answering</a:t>
            </a:r>
          </a:p>
        </p:txBody>
      </p:sp>
      <p:pic>
        <p:nvPicPr>
          <p:cNvPr id="5" name="Picture 4" descr="A collage of images of pizza and a person on a picnic blanket&#10;&#10;AI-generated content may be incorrect.">
            <a:extLst>
              <a:ext uri="{FF2B5EF4-FFF2-40B4-BE49-F238E27FC236}">
                <a16:creationId xmlns:a16="http://schemas.microsoft.com/office/drawing/2014/main" id="{1A4603C9-580D-4684-BE9F-472B4CF2E408}"/>
              </a:ext>
            </a:extLst>
          </p:cNvPr>
          <p:cNvPicPr>
            <a:picLocks noChangeAspect="1"/>
          </p:cNvPicPr>
          <p:nvPr/>
        </p:nvPicPr>
        <p:blipFill>
          <a:blip r:embed="rId2"/>
          <a:stretch>
            <a:fillRect/>
          </a:stretch>
        </p:blipFill>
        <p:spPr>
          <a:xfrm>
            <a:off x="1385230" y="3010555"/>
            <a:ext cx="9421540" cy="1981477"/>
          </a:xfrm>
          <a:prstGeom prst="rect">
            <a:avLst/>
          </a:prstGeom>
        </p:spPr>
      </p:pic>
      <p:sp>
        <p:nvSpPr>
          <p:cNvPr id="6" name="TextBox 5">
            <a:extLst>
              <a:ext uri="{FF2B5EF4-FFF2-40B4-BE49-F238E27FC236}">
                <a16:creationId xmlns:a16="http://schemas.microsoft.com/office/drawing/2014/main" id="{C17DFA1D-EF67-5994-3FC7-06AC23707792}"/>
              </a:ext>
            </a:extLst>
          </p:cNvPr>
          <p:cNvSpPr txBox="1"/>
          <p:nvPr/>
        </p:nvSpPr>
        <p:spPr>
          <a:xfrm>
            <a:off x="3790721" y="6419088"/>
            <a:ext cx="4610558" cy="369332"/>
          </a:xfrm>
          <a:prstGeom prst="rect">
            <a:avLst/>
          </a:prstGeom>
          <a:noFill/>
        </p:spPr>
        <p:txBody>
          <a:bodyPr wrap="none" rtlCol="0">
            <a:spAutoFit/>
          </a:bodyPr>
          <a:lstStyle/>
          <a:p>
            <a:r>
              <a:rPr lang="en-US" dirty="0"/>
              <a:t>VQA: Visual Question Answering (ICCV 2015)</a:t>
            </a:r>
          </a:p>
        </p:txBody>
      </p:sp>
    </p:spTree>
    <p:extLst>
      <p:ext uri="{BB962C8B-B14F-4D97-AF65-F5344CB8AC3E}">
        <p14:creationId xmlns:p14="http://schemas.microsoft.com/office/powerpoint/2010/main" val="1396882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CD63F-3764-5CD6-6CF1-6D64D847A034}"/>
              </a:ext>
            </a:extLst>
          </p:cNvPr>
          <p:cNvSpPr>
            <a:spLocks noGrp="1"/>
          </p:cNvSpPr>
          <p:nvPr>
            <p:ph type="title"/>
          </p:nvPr>
        </p:nvSpPr>
        <p:spPr/>
        <p:txBody>
          <a:bodyPr/>
          <a:lstStyle/>
          <a:p>
            <a:r>
              <a:rPr lang="en-US" dirty="0"/>
              <a:t>Question Types (i.e., Tasks)</a:t>
            </a:r>
          </a:p>
        </p:txBody>
      </p:sp>
      <p:pic>
        <p:nvPicPr>
          <p:cNvPr id="5" name="Picture 4" descr="A young child holding a pink hair brush&#10;&#10;AI-generated content may be incorrect.">
            <a:extLst>
              <a:ext uri="{FF2B5EF4-FFF2-40B4-BE49-F238E27FC236}">
                <a16:creationId xmlns:a16="http://schemas.microsoft.com/office/drawing/2014/main" id="{6A961228-E8D8-A3D5-C022-29EC608105AC}"/>
              </a:ext>
            </a:extLst>
          </p:cNvPr>
          <p:cNvPicPr>
            <a:picLocks noChangeAspect="1"/>
          </p:cNvPicPr>
          <p:nvPr/>
        </p:nvPicPr>
        <p:blipFill>
          <a:blip r:embed="rId2"/>
          <a:stretch>
            <a:fillRect/>
          </a:stretch>
        </p:blipFill>
        <p:spPr>
          <a:xfrm>
            <a:off x="6556247" y="1818548"/>
            <a:ext cx="5551609" cy="3714680"/>
          </a:xfrm>
          <a:prstGeom prst="rect">
            <a:avLst/>
          </a:prstGeom>
        </p:spPr>
      </p:pic>
      <p:pic>
        <p:nvPicPr>
          <p:cNvPr id="7" name="Picture 6" descr="A white background with black text&#10;&#10;AI-generated content may be incorrect.">
            <a:extLst>
              <a:ext uri="{FF2B5EF4-FFF2-40B4-BE49-F238E27FC236}">
                <a16:creationId xmlns:a16="http://schemas.microsoft.com/office/drawing/2014/main" id="{C6481079-BB07-29C5-4A67-79E6F864987F}"/>
              </a:ext>
            </a:extLst>
          </p:cNvPr>
          <p:cNvPicPr>
            <a:picLocks noChangeAspect="1"/>
          </p:cNvPicPr>
          <p:nvPr/>
        </p:nvPicPr>
        <p:blipFill>
          <a:blip r:embed="rId3"/>
          <a:stretch>
            <a:fillRect/>
          </a:stretch>
        </p:blipFill>
        <p:spPr>
          <a:xfrm>
            <a:off x="838200" y="2009784"/>
            <a:ext cx="4296375" cy="952633"/>
          </a:xfrm>
          <a:prstGeom prst="rect">
            <a:avLst/>
          </a:prstGeom>
        </p:spPr>
      </p:pic>
      <p:pic>
        <p:nvPicPr>
          <p:cNvPr id="9" name="Picture 8" descr="A white background with black text&#10;&#10;AI-generated content may be incorrect.">
            <a:extLst>
              <a:ext uri="{FF2B5EF4-FFF2-40B4-BE49-F238E27FC236}">
                <a16:creationId xmlns:a16="http://schemas.microsoft.com/office/drawing/2014/main" id="{29581083-75E6-24D7-A537-91A09C3A5C0F}"/>
              </a:ext>
            </a:extLst>
          </p:cNvPr>
          <p:cNvPicPr>
            <a:picLocks noChangeAspect="1"/>
          </p:cNvPicPr>
          <p:nvPr/>
        </p:nvPicPr>
        <p:blipFill>
          <a:blip r:embed="rId4"/>
          <a:stretch>
            <a:fillRect/>
          </a:stretch>
        </p:blipFill>
        <p:spPr>
          <a:xfrm>
            <a:off x="838200" y="3310128"/>
            <a:ext cx="4239217" cy="1028844"/>
          </a:xfrm>
          <a:prstGeom prst="rect">
            <a:avLst/>
          </a:prstGeom>
        </p:spPr>
      </p:pic>
      <p:pic>
        <p:nvPicPr>
          <p:cNvPr id="11" name="Picture 10" descr="A close up of words&#10;&#10;AI-generated content may be incorrect.">
            <a:extLst>
              <a:ext uri="{FF2B5EF4-FFF2-40B4-BE49-F238E27FC236}">
                <a16:creationId xmlns:a16="http://schemas.microsoft.com/office/drawing/2014/main" id="{C3F6EE35-0857-534F-756F-EDDC58B1D79D}"/>
              </a:ext>
            </a:extLst>
          </p:cNvPr>
          <p:cNvPicPr>
            <a:picLocks noChangeAspect="1"/>
          </p:cNvPicPr>
          <p:nvPr/>
        </p:nvPicPr>
        <p:blipFill>
          <a:blip r:embed="rId5"/>
          <a:stretch>
            <a:fillRect/>
          </a:stretch>
        </p:blipFill>
        <p:spPr>
          <a:xfrm>
            <a:off x="838200" y="4686683"/>
            <a:ext cx="4172532" cy="990738"/>
          </a:xfrm>
          <a:prstGeom prst="rect">
            <a:avLst/>
          </a:prstGeom>
        </p:spPr>
      </p:pic>
      <p:sp>
        <p:nvSpPr>
          <p:cNvPr id="12" name="Rectangle 11">
            <a:extLst>
              <a:ext uri="{FF2B5EF4-FFF2-40B4-BE49-F238E27FC236}">
                <a16:creationId xmlns:a16="http://schemas.microsoft.com/office/drawing/2014/main" id="{DA972042-993E-6696-0881-F914397013DE}"/>
              </a:ext>
            </a:extLst>
          </p:cNvPr>
          <p:cNvSpPr/>
          <p:nvPr/>
        </p:nvSpPr>
        <p:spPr>
          <a:xfrm>
            <a:off x="838200" y="1911096"/>
            <a:ext cx="5590032" cy="4937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20074CC-D3BA-F692-8C1E-1B04DC36C746}"/>
              </a:ext>
            </a:extLst>
          </p:cNvPr>
          <p:cNvSpPr/>
          <p:nvPr/>
        </p:nvSpPr>
        <p:spPr>
          <a:xfrm>
            <a:off x="838200" y="3182112"/>
            <a:ext cx="5590032" cy="4937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C2EB59B-16A8-13CC-6B83-61E42785B763}"/>
              </a:ext>
            </a:extLst>
          </p:cNvPr>
          <p:cNvSpPr/>
          <p:nvPr/>
        </p:nvSpPr>
        <p:spPr>
          <a:xfrm>
            <a:off x="838200" y="4553712"/>
            <a:ext cx="5590032" cy="4937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76A2E9C7-CDB5-D26D-AF16-C379CA204554}"/>
              </a:ext>
            </a:extLst>
          </p:cNvPr>
          <p:cNvPicPr>
            <a:picLocks noChangeAspect="1"/>
          </p:cNvPicPr>
          <p:nvPr/>
        </p:nvPicPr>
        <p:blipFill>
          <a:blip r:embed="rId6"/>
          <a:stretch>
            <a:fillRect/>
          </a:stretch>
        </p:blipFill>
        <p:spPr>
          <a:xfrm>
            <a:off x="4762314" y="1997820"/>
            <a:ext cx="1333686" cy="342948"/>
          </a:xfrm>
          <a:prstGeom prst="rect">
            <a:avLst/>
          </a:prstGeom>
        </p:spPr>
      </p:pic>
      <p:pic>
        <p:nvPicPr>
          <p:cNvPr id="18" name="Picture 17">
            <a:extLst>
              <a:ext uri="{FF2B5EF4-FFF2-40B4-BE49-F238E27FC236}">
                <a16:creationId xmlns:a16="http://schemas.microsoft.com/office/drawing/2014/main" id="{CD4EC155-808F-7B45-2167-A22ABB31104D}"/>
              </a:ext>
            </a:extLst>
          </p:cNvPr>
          <p:cNvPicPr>
            <a:picLocks noChangeAspect="1"/>
          </p:cNvPicPr>
          <p:nvPr/>
        </p:nvPicPr>
        <p:blipFill>
          <a:blip r:embed="rId7"/>
          <a:stretch>
            <a:fillRect/>
          </a:stretch>
        </p:blipFill>
        <p:spPr>
          <a:xfrm>
            <a:off x="4762314" y="3238473"/>
            <a:ext cx="1390844" cy="381053"/>
          </a:xfrm>
          <a:prstGeom prst="rect">
            <a:avLst/>
          </a:prstGeom>
        </p:spPr>
      </p:pic>
      <p:pic>
        <p:nvPicPr>
          <p:cNvPr id="20" name="Picture 19">
            <a:extLst>
              <a:ext uri="{FF2B5EF4-FFF2-40B4-BE49-F238E27FC236}">
                <a16:creationId xmlns:a16="http://schemas.microsoft.com/office/drawing/2014/main" id="{62DA04DE-A18E-0D5B-B932-BEF683EC856C}"/>
              </a:ext>
            </a:extLst>
          </p:cNvPr>
          <p:cNvPicPr>
            <a:picLocks noChangeAspect="1"/>
          </p:cNvPicPr>
          <p:nvPr/>
        </p:nvPicPr>
        <p:blipFill>
          <a:blip r:embed="rId8"/>
          <a:stretch>
            <a:fillRect/>
          </a:stretch>
        </p:blipFill>
        <p:spPr>
          <a:xfrm>
            <a:off x="4867103" y="4581143"/>
            <a:ext cx="1124107" cy="428685"/>
          </a:xfrm>
          <a:prstGeom prst="rect">
            <a:avLst/>
          </a:prstGeom>
        </p:spPr>
      </p:pic>
    </p:spTree>
    <p:extLst>
      <p:ext uri="{BB962C8B-B14F-4D97-AF65-F5344CB8AC3E}">
        <p14:creationId xmlns:p14="http://schemas.microsoft.com/office/powerpoint/2010/main" val="1882171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1ACDB-78C7-F17A-9EC6-1E088990BD69}"/>
              </a:ext>
            </a:extLst>
          </p:cNvPr>
          <p:cNvSpPr>
            <a:spLocks noGrp="1"/>
          </p:cNvSpPr>
          <p:nvPr>
            <p:ph type="title"/>
          </p:nvPr>
        </p:nvSpPr>
        <p:spPr/>
        <p:txBody>
          <a:bodyPr/>
          <a:lstStyle/>
          <a:p>
            <a:r>
              <a:rPr lang="en-US" dirty="0"/>
              <a:t>Question Types (i.e., Tasks)</a:t>
            </a:r>
          </a:p>
        </p:txBody>
      </p:sp>
      <p:pic>
        <p:nvPicPr>
          <p:cNvPr id="4" name="Content Placeholder 5">
            <a:extLst>
              <a:ext uri="{FF2B5EF4-FFF2-40B4-BE49-F238E27FC236}">
                <a16:creationId xmlns:a16="http://schemas.microsoft.com/office/drawing/2014/main" id="{2AD32107-90C6-3A1D-916D-26B69F570198}"/>
              </a:ext>
            </a:extLst>
          </p:cNvPr>
          <p:cNvPicPr>
            <a:picLocks noChangeAspect="1"/>
          </p:cNvPicPr>
          <p:nvPr/>
        </p:nvPicPr>
        <p:blipFill>
          <a:blip r:embed="rId2"/>
          <a:stretch>
            <a:fillRect/>
          </a:stretch>
        </p:blipFill>
        <p:spPr>
          <a:xfrm>
            <a:off x="1239370" y="2364740"/>
            <a:ext cx="9713259" cy="4128135"/>
          </a:xfrm>
          <a:prstGeom prst="rect">
            <a:avLst/>
          </a:prstGeom>
        </p:spPr>
      </p:pic>
      <p:sp>
        <p:nvSpPr>
          <p:cNvPr id="6" name="TextBox 5">
            <a:extLst>
              <a:ext uri="{FF2B5EF4-FFF2-40B4-BE49-F238E27FC236}">
                <a16:creationId xmlns:a16="http://schemas.microsoft.com/office/drawing/2014/main" id="{79261F75-A44B-E3F3-558F-49B873036577}"/>
              </a:ext>
            </a:extLst>
          </p:cNvPr>
          <p:cNvSpPr txBox="1"/>
          <p:nvPr/>
        </p:nvSpPr>
        <p:spPr>
          <a:xfrm>
            <a:off x="838200" y="1506022"/>
            <a:ext cx="6136745" cy="646331"/>
          </a:xfrm>
          <a:prstGeom prst="rect">
            <a:avLst/>
          </a:prstGeom>
          <a:noFill/>
        </p:spPr>
        <p:txBody>
          <a:bodyPr wrap="none" rtlCol="0">
            <a:spAutoFit/>
          </a:bodyPr>
          <a:lstStyle/>
          <a:p>
            <a:pPr marL="285750" indent="-285750">
              <a:buFont typeface="Arial" panose="020B0604020202020204" pitchFamily="34" charset="0"/>
              <a:buChar char="•"/>
            </a:pPr>
            <a:r>
              <a:rPr lang="en-US" dirty="0"/>
              <a:t>The questions can be categorized into </a:t>
            </a:r>
            <a:r>
              <a:rPr lang="en-US" b="1" dirty="0">
                <a:solidFill>
                  <a:srgbClr val="FF0000"/>
                </a:solidFill>
              </a:rPr>
              <a:t>ten</a:t>
            </a:r>
            <a:r>
              <a:rPr lang="en-US" dirty="0"/>
              <a:t> different types.</a:t>
            </a:r>
          </a:p>
          <a:p>
            <a:pPr marL="285750" indent="-285750">
              <a:buFont typeface="Arial" panose="020B0604020202020204" pitchFamily="34" charset="0"/>
              <a:buChar char="•"/>
            </a:pPr>
            <a:r>
              <a:rPr lang="en-US" dirty="0"/>
              <a:t>The types can be overlapping.</a:t>
            </a:r>
          </a:p>
        </p:txBody>
      </p:sp>
    </p:spTree>
    <p:extLst>
      <p:ext uri="{BB962C8B-B14F-4D97-AF65-F5344CB8AC3E}">
        <p14:creationId xmlns:p14="http://schemas.microsoft.com/office/powerpoint/2010/main" val="3284975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B0C27-03D0-1D40-C3C3-AC3C6083DF26}"/>
              </a:ext>
            </a:extLst>
          </p:cNvPr>
          <p:cNvSpPr>
            <a:spLocks noGrp="1"/>
          </p:cNvSpPr>
          <p:nvPr>
            <p:ph type="title"/>
          </p:nvPr>
        </p:nvSpPr>
        <p:spPr/>
        <p:txBody>
          <a:bodyPr/>
          <a:lstStyle/>
          <a:p>
            <a:r>
              <a:rPr lang="en-US" dirty="0"/>
              <a:t>Composed Questions</a:t>
            </a:r>
          </a:p>
        </p:txBody>
      </p:sp>
      <p:sp>
        <p:nvSpPr>
          <p:cNvPr id="3" name="Content Placeholder 2">
            <a:extLst>
              <a:ext uri="{FF2B5EF4-FFF2-40B4-BE49-F238E27FC236}">
                <a16:creationId xmlns:a16="http://schemas.microsoft.com/office/drawing/2014/main" id="{7F33C608-AD5C-99A7-FEA9-9631C2D44B93}"/>
              </a:ext>
            </a:extLst>
          </p:cNvPr>
          <p:cNvSpPr>
            <a:spLocks noGrp="1"/>
          </p:cNvSpPr>
          <p:nvPr>
            <p:ph idx="1"/>
          </p:nvPr>
        </p:nvSpPr>
        <p:spPr/>
        <p:txBody>
          <a:bodyPr/>
          <a:lstStyle/>
          <a:p>
            <a:r>
              <a:rPr lang="en-US" dirty="0"/>
              <a:t>Composed questions are a type of question that </a:t>
            </a:r>
            <a:r>
              <a:rPr lang="en-US" b="1" dirty="0"/>
              <a:t>combine two or more different tasks.</a:t>
            </a:r>
          </a:p>
          <a:p>
            <a:r>
              <a:rPr lang="en-US" b="1" dirty="0"/>
              <a:t>Example:</a:t>
            </a:r>
          </a:p>
          <a:p>
            <a:pPr lvl="1"/>
            <a:r>
              <a:rPr lang="en-US" b="1" dirty="0"/>
              <a:t>Question: What is the toddler doing with the pink tool she is holding against her head?</a:t>
            </a:r>
          </a:p>
          <a:p>
            <a:pPr lvl="1"/>
            <a:r>
              <a:rPr lang="en-US" b="1" dirty="0"/>
              <a:t>Tasks combined:</a:t>
            </a:r>
            <a:r>
              <a:rPr lang="en-US" dirty="0"/>
              <a:t> Recognition (identifying the object) + Judge (understanding the context of how it’s being used)</a:t>
            </a:r>
          </a:p>
          <a:p>
            <a:pPr lvl="1"/>
            <a:r>
              <a:rPr lang="en-US" b="1" dirty="0"/>
              <a:t>Single Answer:</a:t>
            </a:r>
            <a:r>
              <a:rPr lang="en-US" dirty="0"/>
              <a:t> "Brushing hair"</a:t>
            </a:r>
            <a:endParaRPr lang="en-US" b="1" dirty="0"/>
          </a:p>
        </p:txBody>
      </p:sp>
      <p:pic>
        <p:nvPicPr>
          <p:cNvPr id="4" name="Picture 3" descr="A young child holding a pink hair brush&#10;&#10;AI-generated content may be incorrect.">
            <a:extLst>
              <a:ext uri="{FF2B5EF4-FFF2-40B4-BE49-F238E27FC236}">
                <a16:creationId xmlns:a16="http://schemas.microsoft.com/office/drawing/2014/main" id="{85BD9285-2D18-947A-9E57-30E2A378D096}"/>
              </a:ext>
            </a:extLst>
          </p:cNvPr>
          <p:cNvPicPr>
            <a:picLocks noChangeAspect="1"/>
          </p:cNvPicPr>
          <p:nvPr/>
        </p:nvPicPr>
        <p:blipFill>
          <a:blip r:embed="rId2"/>
          <a:stretch>
            <a:fillRect/>
          </a:stretch>
        </p:blipFill>
        <p:spPr>
          <a:xfrm>
            <a:off x="8242810" y="4159412"/>
            <a:ext cx="3718742" cy="2488276"/>
          </a:xfrm>
          <a:prstGeom prst="rect">
            <a:avLst/>
          </a:prstGeom>
        </p:spPr>
      </p:pic>
    </p:spTree>
    <p:extLst>
      <p:ext uri="{BB962C8B-B14F-4D97-AF65-F5344CB8AC3E}">
        <p14:creationId xmlns:p14="http://schemas.microsoft.com/office/powerpoint/2010/main" val="1842749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74E83-63E5-60D4-D1A9-2114703E1812}"/>
              </a:ext>
            </a:extLst>
          </p:cNvPr>
          <p:cNvSpPr>
            <a:spLocks noGrp="1"/>
          </p:cNvSpPr>
          <p:nvPr>
            <p:ph type="title"/>
          </p:nvPr>
        </p:nvSpPr>
        <p:spPr/>
        <p:txBody>
          <a:bodyPr/>
          <a:lstStyle/>
          <a:p>
            <a:r>
              <a:rPr lang="en-US" dirty="0"/>
              <a:t>General Instructions </a:t>
            </a:r>
          </a:p>
        </p:txBody>
      </p:sp>
      <p:sp>
        <p:nvSpPr>
          <p:cNvPr id="3" name="Content Placeholder 2">
            <a:extLst>
              <a:ext uri="{FF2B5EF4-FFF2-40B4-BE49-F238E27FC236}">
                <a16:creationId xmlns:a16="http://schemas.microsoft.com/office/drawing/2014/main" id="{041EBD54-FDAF-379A-CEA1-472A8BEA04D3}"/>
              </a:ext>
            </a:extLst>
          </p:cNvPr>
          <p:cNvSpPr>
            <a:spLocks noGrp="1"/>
          </p:cNvSpPr>
          <p:nvPr>
            <p:ph idx="1"/>
          </p:nvPr>
        </p:nvSpPr>
        <p:spPr/>
        <p:txBody>
          <a:bodyPr>
            <a:normAutofit/>
          </a:bodyPr>
          <a:lstStyle/>
          <a:p>
            <a:pPr marL="514350" indent="-514350">
              <a:buFont typeface="+mj-lt"/>
              <a:buAutoNum type="arabicPeriod"/>
            </a:pPr>
            <a:r>
              <a:rPr lang="en-US" dirty="0"/>
              <a:t>Observe the image carefully.</a:t>
            </a:r>
          </a:p>
          <a:p>
            <a:pPr lvl="1"/>
            <a:r>
              <a:rPr lang="en-US" dirty="0"/>
              <a:t>Note objects, people, actions, and relationships in the scene.</a:t>
            </a:r>
          </a:p>
          <a:p>
            <a:pPr lvl="1"/>
            <a:r>
              <a:rPr lang="en-US" dirty="0"/>
              <a:t>Identify multiple aspects that could be asked about (e.g., what someone is holding, what they are doing, where something is, or characteristics like color or type).</a:t>
            </a:r>
          </a:p>
          <a:p>
            <a:pPr marL="514350" indent="-514350">
              <a:buFont typeface="+mj-lt"/>
              <a:buAutoNum type="arabicPeriod"/>
            </a:pPr>
            <a:r>
              <a:rPr lang="en-US" dirty="0"/>
              <a:t>Identify the tasks to combine.</a:t>
            </a:r>
          </a:p>
          <a:p>
            <a:pPr lvl="1"/>
            <a:r>
              <a:rPr lang="en-US" dirty="0"/>
              <a:t>Choose </a:t>
            </a:r>
            <a:r>
              <a:rPr lang="en-US" b="1" dirty="0"/>
              <a:t>two or more tasks</a:t>
            </a:r>
            <a:r>
              <a:rPr lang="en-US" dirty="0"/>
              <a:t> from the following categories:</a:t>
            </a:r>
          </a:p>
          <a:p>
            <a:endParaRPr lang="en-US" dirty="0"/>
          </a:p>
        </p:txBody>
      </p:sp>
      <p:pic>
        <p:nvPicPr>
          <p:cNvPr id="4" name="Content Placeholder 5">
            <a:extLst>
              <a:ext uri="{FF2B5EF4-FFF2-40B4-BE49-F238E27FC236}">
                <a16:creationId xmlns:a16="http://schemas.microsoft.com/office/drawing/2014/main" id="{BA214BD5-220F-A5EF-2285-2DC5E32C3F93}"/>
              </a:ext>
            </a:extLst>
          </p:cNvPr>
          <p:cNvPicPr>
            <a:picLocks noChangeAspect="1"/>
          </p:cNvPicPr>
          <p:nvPr/>
        </p:nvPicPr>
        <p:blipFill>
          <a:blip r:embed="rId2"/>
          <a:stretch>
            <a:fillRect/>
          </a:stretch>
        </p:blipFill>
        <p:spPr>
          <a:xfrm>
            <a:off x="1591056" y="4650518"/>
            <a:ext cx="5194078" cy="2207482"/>
          </a:xfrm>
          <a:prstGeom prst="rect">
            <a:avLst/>
          </a:prstGeom>
        </p:spPr>
      </p:pic>
    </p:spTree>
    <p:extLst>
      <p:ext uri="{BB962C8B-B14F-4D97-AF65-F5344CB8AC3E}">
        <p14:creationId xmlns:p14="http://schemas.microsoft.com/office/powerpoint/2010/main" val="3378906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7BCD3-8C2A-FBB7-0516-0F0EBFABCA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8682E0-229E-6ACB-A28D-315CAD3DB18F}"/>
              </a:ext>
            </a:extLst>
          </p:cNvPr>
          <p:cNvSpPr>
            <a:spLocks noGrp="1"/>
          </p:cNvSpPr>
          <p:nvPr>
            <p:ph type="title"/>
          </p:nvPr>
        </p:nvSpPr>
        <p:spPr/>
        <p:txBody>
          <a:bodyPr/>
          <a:lstStyle/>
          <a:p>
            <a:r>
              <a:rPr lang="en-US" dirty="0"/>
              <a:t>General Instructions </a:t>
            </a:r>
          </a:p>
        </p:txBody>
      </p:sp>
      <p:sp>
        <p:nvSpPr>
          <p:cNvPr id="3" name="Content Placeholder 2">
            <a:extLst>
              <a:ext uri="{FF2B5EF4-FFF2-40B4-BE49-F238E27FC236}">
                <a16:creationId xmlns:a16="http://schemas.microsoft.com/office/drawing/2014/main" id="{DBFFDD02-4A5C-52A3-5F90-236D1FE9941E}"/>
              </a:ext>
            </a:extLst>
          </p:cNvPr>
          <p:cNvSpPr>
            <a:spLocks noGrp="1"/>
          </p:cNvSpPr>
          <p:nvPr>
            <p:ph idx="1"/>
          </p:nvPr>
        </p:nvSpPr>
        <p:spPr/>
        <p:txBody>
          <a:bodyPr>
            <a:normAutofit fontScale="92500" lnSpcReduction="20000"/>
          </a:bodyPr>
          <a:lstStyle/>
          <a:p>
            <a:pPr marL="0" indent="0">
              <a:buNone/>
            </a:pPr>
            <a:r>
              <a:rPr lang="en-US" dirty="0"/>
              <a:t>3.  Combine the tasks into a single natural question.</a:t>
            </a:r>
          </a:p>
          <a:p>
            <a:pPr lvl="1"/>
            <a:r>
              <a:rPr lang="en-US" dirty="0"/>
              <a:t>Formulate a question that integrates the chosen tasks but is still answerable with </a:t>
            </a:r>
            <a:r>
              <a:rPr lang="en-US" b="1" dirty="0">
                <a:solidFill>
                  <a:srgbClr val="FF0000"/>
                </a:solidFill>
              </a:rPr>
              <a:t>one clear answer</a:t>
            </a:r>
            <a:r>
              <a:rPr lang="en-US" dirty="0"/>
              <a:t>. No more than three words in one answer please. </a:t>
            </a:r>
          </a:p>
          <a:p>
            <a:pPr lvl="1"/>
            <a:r>
              <a:rPr lang="en-US" u="sng" dirty="0"/>
              <a:t>Ensure the question doesn’t split into multiple independent answers</a:t>
            </a:r>
            <a:r>
              <a:rPr lang="en-US" dirty="0"/>
              <a:t>.</a:t>
            </a:r>
          </a:p>
          <a:p>
            <a:pPr marL="514350" indent="-514350">
              <a:buAutoNum type="arabicPeriod" startAt="4"/>
            </a:pPr>
            <a:r>
              <a:rPr lang="en-US" dirty="0"/>
              <a:t>Check clarity and specificity.</a:t>
            </a:r>
          </a:p>
          <a:p>
            <a:pPr lvl="1"/>
            <a:r>
              <a:rPr lang="en-US" dirty="0"/>
              <a:t>Make sure the question refers unambiguously to a specific object, action, or detail in the image.</a:t>
            </a:r>
          </a:p>
          <a:p>
            <a:r>
              <a:rPr lang="en-US" b="1" dirty="0"/>
              <a:t>Example:</a:t>
            </a:r>
          </a:p>
          <a:p>
            <a:pPr lvl="1"/>
            <a:r>
              <a:rPr lang="en-US" dirty="0"/>
              <a:t>Question: What is the toddler doing with the pink tool she is holding against her head?</a:t>
            </a:r>
          </a:p>
          <a:p>
            <a:pPr lvl="1"/>
            <a:r>
              <a:rPr lang="en-US" dirty="0"/>
              <a:t>Tasks combined: Recognition (identifying the object) + Judge (understanding the context of how it’s being used)</a:t>
            </a:r>
          </a:p>
          <a:p>
            <a:pPr lvl="1"/>
            <a:r>
              <a:rPr lang="en-US" dirty="0"/>
              <a:t>Single Answer: "Brushing hair"</a:t>
            </a:r>
          </a:p>
          <a:p>
            <a:endParaRPr lang="en-US" dirty="0"/>
          </a:p>
        </p:txBody>
      </p:sp>
      <p:pic>
        <p:nvPicPr>
          <p:cNvPr id="7" name="Picture 6" descr="A young child holding a pink hair brush&#10;&#10;AI-generated content may be incorrect.">
            <a:extLst>
              <a:ext uri="{FF2B5EF4-FFF2-40B4-BE49-F238E27FC236}">
                <a16:creationId xmlns:a16="http://schemas.microsoft.com/office/drawing/2014/main" id="{C04F9096-98F1-600C-3189-BA42C8A29AD7}"/>
              </a:ext>
            </a:extLst>
          </p:cNvPr>
          <p:cNvPicPr>
            <a:picLocks noChangeAspect="1"/>
          </p:cNvPicPr>
          <p:nvPr/>
        </p:nvPicPr>
        <p:blipFill>
          <a:blip r:embed="rId2"/>
          <a:stretch>
            <a:fillRect/>
          </a:stretch>
        </p:blipFill>
        <p:spPr>
          <a:xfrm>
            <a:off x="8951976" y="170308"/>
            <a:ext cx="2563368" cy="1715195"/>
          </a:xfrm>
          <a:prstGeom prst="rect">
            <a:avLst/>
          </a:prstGeom>
        </p:spPr>
      </p:pic>
    </p:spTree>
    <p:extLst>
      <p:ext uri="{BB962C8B-B14F-4D97-AF65-F5344CB8AC3E}">
        <p14:creationId xmlns:p14="http://schemas.microsoft.com/office/powerpoint/2010/main" val="29126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0B4F8-69CE-9BCF-700A-A3ACDFAF766A}"/>
              </a:ext>
            </a:extLst>
          </p:cNvPr>
          <p:cNvSpPr>
            <a:spLocks noGrp="1"/>
          </p:cNvSpPr>
          <p:nvPr>
            <p:ph type="title"/>
          </p:nvPr>
        </p:nvSpPr>
        <p:spPr/>
        <p:txBody>
          <a:bodyPr/>
          <a:lstStyle/>
          <a:p>
            <a:r>
              <a:rPr lang="en-US" dirty="0"/>
              <a:t>Your Task</a:t>
            </a:r>
          </a:p>
        </p:txBody>
      </p:sp>
      <p:sp>
        <p:nvSpPr>
          <p:cNvPr id="3" name="Content Placeholder 2">
            <a:extLst>
              <a:ext uri="{FF2B5EF4-FFF2-40B4-BE49-F238E27FC236}">
                <a16:creationId xmlns:a16="http://schemas.microsoft.com/office/drawing/2014/main" id="{2BFE3CA1-944C-05EB-AF54-B8E602B4FBC9}"/>
              </a:ext>
            </a:extLst>
          </p:cNvPr>
          <p:cNvSpPr>
            <a:spLocks noGrp="1"/>
          </p:cNvSpPr>
          <p:nvPr>
            <p:ph idx="1"/>
          </p:nvPr>
        </p:nvSpPr>
        <p:spPr>
          <a:xfrm>
            <a:off x="838200" y="1690688"/>
            <a:ext cx="10515600" cy="4351338"/>
          </a:xfrm>
        </p:spPr>
        <p:txBody>
          <a:bodyPr/>
          <a:lstStyle/>
          <a:p>
            <a:r>
              <a:rPr lang="en-US" dirty="0"/>
              <a:t>Each group should annotate 50 composed QAs.</a:t>
            </a:r>
          </a:p>
          <a:p>
            <a:r>
              <a:rPr lang="en-US" dirty="0"/>
              <a:t>Each group should answer all composed QAs annotated by other groups.</a:t>
            </a:r>
          </a:p>
          <a:p>
            <a:r>
              <a:rPr lang="en-US" dirty="0"/>
              <a:t>Composed QAs must be </a:t>
            </a:r>
            <a:r>
              <a:rPr lang="en-US" b="1" dirty="0"/>
              <a:t>human-annotated.</a:t>
            </a:r>
            <a:r>
              <a:rPr lang="en-US" dirty="0"/>
              <a:t> </a:t>
            </a:r>
          </a:p>
          <a:p>
            <a:r>
              <a:rPr lang="en-US" dirty="0"/>
              <a:t>No AI is allowed for this part.</a:t>
            </a:r>
          </a:p>
          <a:p>
            <a:r>
              <a:rPr lang="en-US" dirty="0"/>
              <a:t>You will use AI in the second part of the project, so AI should not be used in the first part.</a:t>
            </a:r>
          </a:p>
          <a:p>
            <a:r>
              <a:rPr lang="en-US" dirty="0"/>
              <a:t>The quality of your annotations and answers will be evaluated by the professor, TAs, and some PhD students.</a:t>
            </a:r>
          </a:p>
        </p:txBody>
      </p:sp>
    </p:spTree>
    <p:extLst>
      <p:ext uri="{BB962C8B-B14F-4D97-AF65-F5344CB8AC3E}">
        <p14:creationId xmlns:p14="http://schemas.microsoft.com/office/powerpoint/2010/main" val="191267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7FD48-F87A-67DD-9135-B55A4286B7C7}"/>
              </a:ext>
            </a:extLst>
          </p:cNvPr>
          <p:cNvSpPr>
            <a:spLocks noGrp="1"/>
          </p:cNvSpPr>
          <p:nvPr>
            <p:ph type="title"/>
          </p:nvPr>
        </p:nvSpPr>
        <p:spPr>
          <a:xfrm>
            <a:off x="0" y="18255"/>
            <a:ext cx="10515600" cy="757383"/>
          </a:xfrm>
        </p:spPr>
        <p:txBody>
          <a:bodyPr/>
          <a:lstStyle/>
          <a:p>
            <a:r>
              <a:rPr lang="en-US" dirty="0"/>
              <a:t>Landing Page</a:t>
            </a:r>
          </a:p>
        </p:txBody>
      </p:sp>
      <p:sp>
        <p:nvSpPr>
          <p:cNvPr id="3" name="Content Placeholder 2">
            <a:extLst>
              <a:ext uri="{FF2B5EF4-FFF2-40B4-BE49-F238E27FC236}">
                <a16:creationId xmlns:a16="http://schemas.microsoft.com/office/drawing/2014/main" id="{6E9ACFE8-FF66-B386-8D93-67D7A433F476}"/>
              </a:ext>
            </a:extLst>
          </p:cNvPr>
          <p:cNvSpPr>
            <a:spLocks noGrp="1"/>
          </p:cNvSpPr>
          <p:nvPr>
            <p:ph idx="1"/>
          </p:nvPr>
        </p:nvSpPr>
        <p:spPr/>
        <p:txBody>
          <a:bodyPr/>
          <a:lstStyle/>
          <a:p>
            <a:endParaRPr lang="en-US"/>
          </a:p>
        </p:txBody>
      </p:sp>
      <p:pic>
        <p:nvPicPr>
          <p:cNvPr id="5" name="Picture 4" descr="A screenshot of a login form&#10;&#10;AI-generated content may be incorrect.">
            <a:extLst>
              <a:ext uri="{FF2B5EF4-FFF2-40B4-BE49-F238E27FC236}">
                <a16:creationId xmlns:a16="http://schemas.microsoft.com/office/drawing/2014/main" id="{31E5B619-DF15-FF2B-2966-9D4DF4B387CF}"/>
              </a:ext>
            </a:extLst>
          </p:cNvPr>
          <p:cNvPicPr>
            <a:picLocks noChangeAspect="1"/>
          </p:cNvPicPr>
          <p:nvPr/>
        </p:nvPicPr>
        <p:blipFill>
          <a:blip r:embed="rId2"/>
          <a:stretch>
            <a:fillRect/>
          </a:stretch>
        </p:blipFill>
        <p:spPr>
          <a:xfrm>
            <a:off x="0" y="775638"/>
            <a:ext cx="12192000" cy="6082362"/>
          </a:xfrm>
          <a:prstGeom prst="rect">
            <a:avLst/>
          </a:prstGeom>
        </p:spPr>
      </p:pic>
      <p:sp>
        <p:nvSpPr>
          <p:cNvPr id="6" name="TextBox 5">
            <a:extLst>
              <a:ext uri="{FF2B5EF4-FFF2-40B4-BE49-F238E27FC236}">
                <a16:creationId xmlns:a16="http://schemas.microsoft.com/office/drawing/2014/main" id="{4565B09A-59C5-1B77-8058-A00479A56AD6}"/>
              </a:ext>
            </a:extLst>
          </p:cNvPr>
          <p:cNvSpPr txBox="1"/>
          <p:nvPr/>
        </p:nvSpPr>
        <p:spPr>
          <a:xfrm>
            <a:off x="4242816" y="5594152"/>
            <a:ext cx="5739072" cy="923330"/>
          </a:xfrm>
          <a:prstGeom prst="rect">
            <a:avLst/>
          </a:prstGeom>
          <a:noFill/>
        </p:spPr>
        <p:txBody>
          <a:bodyPr wrap="none" rtlCol="0">
            <a:spAutoFit/>
          </a:bodyPr>
          <a:lstStyle/>
          <a:p>
            <a:r>
              <a:rPr lang="en-US" dirty="0"/>
              <a:t>Choose your group and enter the password to sign in. </a:t>
            </a:r>
          </a:p>
          <a:p>
            <a:r>
              <a:rPr lang="en-US" dirty="0"/>
              <a:t>The password is “</a:t>
            </a:r>
            <a:r>
              <a:rPr lang="en-US" dirty="0" err="1"/>
              <a:t>nlp</a:t>
            </a:r>
            <a:r>
              <a:rPr lang="en-US" dirty="0"/>
              <a:t>_{GROUP}” (e.g., nlp_1 for Group 1).</a:t>
            </a:r>
          </a:p>
          <a:p>
            <a:r>
              <a:rPr lang="en-US" dirty="0"/>
              <a:t>Each group is assigned 200 unique images.</a:t>
            </a:r>
          </a:p>
        </p:txBody>
      </p:sp>
    </p:spTree>
    <p:extLst>
      <p:ext uri="{BB962C8B-B14F-4D97-AF65-F5344CB8AC3E}">
        <p14:creationId xmlns:p14="http://schemas.microsoft.com/office/powerpoint/2010/main" val="773714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DF0E0-688B-62C2-DF18-47D712B611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9C29F8-76A0-880A-D661-3073A40BCD94}"/>
              </a:ext>
            </a:extLst>
          </p:cNvPr>
          <p:cNvSpPr>
            <a:spLocks noGrp="1"/>
          </p:cNvSpPr>
          <p:nvPr>
            <p:ph type="title"/>
          </p:nvPr>
        </p:nvSpPr>
        <p:spPr>
          <a:xfrm>
            <a:off x="0" y="18255"/>
            <a:ext cx="10515600" cy="757383"/>
          </a:xfrm>
        </p:spPr>
        <p:txBody>
          <a:bodyPr>
            <a:normAutofit/>
          </a:bodyPr>
          <a:lstStyle/>
          <a:p>
            <a:r>
              <a:rPr lang="en-US" dirty="0"/>
              <a:t>After signing in, you will see this page. </a:t>
            </a:r>
          </a:p>
        </p:txBody>
      </p:sp>
      <p:pic>
        <p:nvPicPr>
          <p:cNvPr id="6" name="Picture 5" descr="A screenshot of a computer&#10;&#10;AI-generated content may be incorrect.">
            <a:extLst>
              <a:ext uri="{FF2B5EF4-FFF2-40B4-BE49-F238E27FC236}">
                <a16:creationId xmlns:a16="http://schemas.microsoft.com/office/drawing/2014/main" id="{DD1399B6-A5D0-7B98-9429-D47B5E8EC110}"/>
              </a:ext>
            </a:extLst>
          </p:cNvPr>
          <p:cNvPicPr>
            <a:picLocks noChangeAspect="1"/>
          </p:cNvPicPr>
          <p:nvPr/>
        </p:nvPicPr>
        <p:blipFill>
          <a:blip r:embed="rId2"/>
          <a:stretch>
            <a:fillRect/>
          </a:stretch>
        </p:blipFill>
        <p:spPr>
          <a:xfrm>
            <a:off x="0" y="757383"/>
            <a:ext cx="12192000" cy="6082362"/>
          </a:xfrm>
          <a:prstGeom prst="rect">
            <a:avLst/>
          </a:prstGeom>
        </p:spPr>
      </p:pic>
      <p:sp>
        <p:nvSpPr>
          <p:cNvPr id="7" name="Rectangle 6">
            <a:extLst>
              <a:ext uri="{FF2B5EF4-FFF2-40B4-BE49-F238E27FC236}">
                <a16:creationId xmlns:a16="http://schemas.microsoft.com/office/drawing/2014/main" id="{E386D7F8-548B-0B7B-6939-FD9524CADF29}"/>
              </a:ext>
            </a:extLst>
          </p:cNvPr>
          <p:cNvSpPr/>
          <p:nvPr/>
        </p:nvSpPr>
        <p:spPr>
          <a:xfrm>
            <a:off x="100584" y="1197830"/>
            <a:ext cx="1399032" cy="192027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D360BFC-A916-282C-B97C-F1E183C356A3}"/>
              </a:ext>
            </a:extLst>
          </p:cNvPr>
          <p:cNvSpPr txBox="1"/>
          <p:nvPr/>
        </p:nvSpPr>
        <p:spPr>
          <a:xfrm>
            <a:off x="1828800" y="868435"/>
            <a:ext cx="6097631" cy="369332"/>
          </a:xfrm>
          <a:prstGeom prst="rect">
            <a:avLst/>
          </a:prstGeom>
          <a:noFill/>
          <a:ln>
            <a:solidFill>
              <a:srgbClr val="FF0000"/>
            </a:solidFill>
          </a:ln>
        </p:spPr>
        <p:txBody>
          <a:bodyPr wrap="none" rtlCol="0">
            <a:spAutoFit/>
          </a:bodyPr>
          <a:lstStyle/>
          <a:p>
            <a:r>
              <a:rPr lang="en-US" dirty="0"/>
              <a:t>On the left sidebar, you will find different navigation options.</a:t>
            </a:r>
          </a:p>
        </p:txBody>
      </p:sp>
      <p:cxnSp>
        <p:nvCxnSpPr>
          <p:cNvPr id="12" name="Straight Arrow Connector 11">
            <a:extLst>
              <a:ext uri="{FF2B5EF4-FFF2-40B4-BE49-F238E27FC236}">
                <a16:creationId xmlns:a16="http://schemas.microsoft.com/office/drawing/2014/main" id="{BC46B501-9F60-9956-4417-A68120A9CAC6}"/>
              </a:ext>
            </a:extLst>
          </p:cNvPr>
          <p:cNvCxnSpPr>
            <a:stCxn id="8" idx="1"/>
          </p:cNvCxnSpPr>
          <p:nvPr/>
        </p:nvCxnSpPr>
        <p:spPr>
          <a:xfrm flipH="1">
            <a:off x="1499616" y="1053101"/>
            <a:ext cx="329184" cy="96013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2625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1B403-4033-466D-FA0A-222C57358DF0}"/>
            </a:ext>
          </a:extLst>
        </p:cNvPr>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9904B826-7734-5D9C-0D63-B564DC2563C2}"/>
              </a:ext>
            </a:extLst>
          </p:cNvPr>
          <p:cNvPicPr>
            <a:picLocks noChangeAspect="1"/>
          </p:cNvPicPr>
          <p:nvPr/>
        </p:nvPicPr>
        <p:blipFill>
          <a:blip r:embed="rId2"/>
          <a:stretch>
            <a:fillRect/>
          </a:stretch>
        </p:blipFill>
        <p:spPr>
          <a:xfrm>
            <a:off x="533590" y="2082546"/>
            <a:ext cx="2200275" cy="2857500"/>
          </a:xfrm>
          <a:prstGeom prst="rect">
            <a:avLst/>
          </a:prstGeom>
        </p:spPr>
      </p:pic>
      <p:sp>
        <p:nvSpPr>
          <p:cNvPr id="5" name="TextBox 4">
            <a:extLst>
              <a:ext uri="{FF2B5EF4-FFF2-40B4-BE49-F238E27FC236}">
                <a16:creationId xmlns:a16="http://schemas.microsoft.com/office/drawing/2014/main" id="{5A949890-62A1-29C8-9753-4430E5412CB5}"/>
              </a:ext>
            </a:extLst>
          </p:cNvPr>
          <p:cNvSpPr txBox="1"/>
          <p:nvPr/>
        </p:nvSpPr>
        <p:spPr>
          <a:xfrm>
            <a:off x="3197352" y="2772632"/>
            <a:ext cx="5825056" cy="369332"/>
          </a:xfrm>
          <a:prstGeom prst="rect">
            <a:avLst/>
          </a:prstGeom>
          <a:noFill/>
          <a:ln>
            <a:solidFill>
              <a:srgbClr val="FF0000"/>
            </a:solidFill>
          </a:ln>
        </p:spPr>
        <p:txBody>
          <a:bodyPr wrap="none" rtlCol="0">
            <a:spAutoFit/>
          </a:bodyPr>
          <a:lstStyle/>
          <a:p>
            <a:r>
              <a:rPr lang="en-US" dirty="0"/>
              <a:t>This is the page where you will complete your annotation.</a:t>
            </a:r>
          </a:p>
        </p:txBody>
      </p:sp>
      <p:sp>
        <p:nvSpPr>
          <p:cNvPr id="6" name="TextBox 5">
            <a:extLst>
              <a:ext uri="{FF2B5EF4-FFF2-40B4-BE49-F238E27FC236}">
                <a16:creationId xmlns:a16="http://schemas.microsoft.com/office/drawing/2014/main" id="{F2B82701-4A1B-C9DB-EF09-5693CF64165B}"/>
              </a:ext>
            </a:extLst>
          </p:cNvPr>
          <p:cNvSpPr txBox="1"/>
          <p:nvPr/>
        </p:nvSpPr>
        <p:spPr>
          <a:xfrm>
            <a:off x="3197352" y="3316129"/>
            <a:ext cx="6118791" cy="646331"/>
          </a:xfrm>
          <a:prstGeom prst="rect">
            <a:avLst/>
          </a:prstGeom>
          <a:noFill/>
          <a:ln>
            <a:solidFill>
              <a:srgbClr val="FF0000"/>
            </a:solidFill>
          </a:ln>
        </p:spPr>
        <p:txBody>
          <a:bodyPr wrap="none" rtlCol="0">
            <a:spAutoFit/>
          </a:bodyPr>
          <a:lstStyle/>
          <a:p>
            <a:r>
              <a:rPr lang="en-US" dirty="0"/>
              <a:t>On this page, you will see annotations completed by others, </a:t>
            </a:r>
          </a:p>
          <a:p>
            <a:r>
              <a:rPr lang="en-US" dirty="0"/>
              <a:t>and you will review their annotations.</a:t>
            </a:r>
          </a:p>
        </p:txBody>
      </p:sp>
      <p:sp>
        <p:nvSpPr>
          <p:cNvPr id="7" name="TextBox 6">
            <a:extLst>
              <a:ext uri="{FF2B5EF4-FFF2-40B4-BE49-F238E27FC236}">
                <a16:creationId xmlns:a16="http://schemas.microsoft.com/office/drawing/2014/main" id="{3840802F-B0E1-FCF0-2E02-C018A92190B2}"/>
              </a:ext>
            </a:extLst>
          </p:cNvPr>
          <p:cNvSpPr txBox="1"/>
          <p:nvPr/>
        </p:nvSpPr>
        <p:spPr>
          <a:xfrm>
            <a:off x="3197352" y="4103656"/>
            <a:ext cx="5720540" cy="369332"/>
          </a:xfrm>
          <a:prstGeom prst="rect">
            <a:avLst/>
          </a:prstGeom>
          <a:noFill/>
          <a:ln>
            <a:solidFill>
              <a:srgbClr val="FF0000"/>
            </a:solidFill>
          </a:ln>
        </p:spPr>
        <p:txBody>
          <a:bodyPr wrap="none" rtlCol="0">
            <a:spAutoFit/>
          </a:bodyPr>
          <a:lstStyle/>
          <a:p>
            <a:r>
              <a:rPr lang="en-US" dirty="0"/>
              <a:t>This page displays the annotations you have completed.</a:t>
            </a:r>
          </a:p>
        </p:txBody>
      </p:sp>
      <p:sp>
        <p:nvSpPr>
          <p:cNvPr id="8" name="TextBox 7">
            <a:extLst>
              <a:ext uri="{FF2B5EF4-FFF2-40B4-BE49-F238E27FC236}">
                <a16:creationId xmlns:a16="http://schemas.microsoft.com/office/drawing/2014/main" id="{95F17C80-25F7-86F7-006E-301B69E192A6}"/>
              </a:ext>
            </a:extLst>
          </p:cNvPr>
          <p:cNvSpPr txBox="1"/>
          <p:nvPr/>
        </p:nvSpPr>
        <p:spPr>
          <a:xfrm>
            <a:off x="3197352" y="4755380"/>
            <a:ext cx="4917757" cy="369332"/>
          </a:xfrm>
          <a:prstGeom prst="rect">
            <a:avLst/>
          </a:prstGeom>
          <a:noFill/>
          <a:ln>
            <a:solidFill>
              <a:srgbClr val="FF0000"/>
            </a:solidFill>
          </a:ln>
        </p:spPr>
        <p:txBody>
          <a:bodyPr wrap="none" rtlCol="0">
            <a:spAutoFit/>
          </a:bodyPr>
          <a:lstStyle/>
          <a:p>
            <a:r>
              <a:rPr lang="en-US" dirty="0"/>
              <a:t>This page displays annotations reviewed by you.</a:t>
            </a:r>
          </a:p>
        </p:txBody>
      </p:sp>
      <p:cxnSp>
        <p:nvCxnSpPr>
          <p:cNvPr id="10" name="Straight Arrow Connector 9">
            <a:extLst>
              <a:ext uri="{FF2B5EF4-FFF2-40B4-BE49-F238E27FC236}">
                <a16:creationId xmlns:a16="http://schemas.microsoft.com/office/drawing/2014/main" id="{BBB0EEA0-4ECD-9432-1579-EE16DC0D11DA}"/>
              </a:ext>
            </a:extLst>
          </p:cNvPr>
          <p:cNvCxnSpPr>
            <a:stCxn id="5" idx="1"/>
          </p:cNvCxnSpPr>
          <p:nvPr/>
        </p:nvCxnSpPr>
        <p:spPr>
          <a:xfrm flipH="1">
            <a:off x="2057400" y="2957298"/>
            <a:ext cx="1139952" cy="35883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96F45933-57F5-33F8-D7C8-6A6B678D1816}"/>
              </a:ext>
            </a:extLst>
          </p:cNvPr>
          <p:cNvCxnSpPr>
            <a:stCxn id="6" idx="1"/>
          </p:cNvCxnSpPr>
          <p:nvPr/>
        </p:nvCxnSpPr>
        <p:spPr>
          <a:xfrm flipH="1" flipV="1">
            <a:off x="2340864" y="3639294"/>
            <a:ext cx="856488" cy="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4A785F6C-00B6-E909-5D1A-1ED35459FA44}"/>
              </a:ext>
            </a:extLst>
          </p:cNvPr>
          <p:cNvCxnSpPr>
            <a:stCxn id="7" idx="1"/>
          </p:cNvCxnSpPr>
          <p:nvPr/>
        </p:nvCxnSpPr>
        <p:spPr>
          <a:xfrm flipH="1">
            <a:off x="2212848" y="4288322"/>
            <a:ext cx="984504"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495AFD54-A618-07D9-9568-77F61C2D1F78}"/>
              </a:ext>
            </a:extLst>
          </p:cNvPr>
          <p:cNvCxnSpPr>
            <a:stCxn id="8" idx="1"/>
          </p:cNvCxnSpPr>
          <p:nvPr/>
        </p:nvCxnSpPr>
        <p:spPr>
          <a:xfrm flipH="1" flipV="1">
            <a:off x="2057400" y="4663440"/>
            <a:ext cx="1139952" cy="27660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78678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DECA1-9E41-26E0-3461-61A2FD2EAC73}"/>
            </a:ext>
          </a:extLst>
        </p:cNvPr>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B673EAB1-0776-AA5B-5E79-FCD934152BBB}"/>
              </a:ext>
            </a:extLst>
          </p:cNvPr>
          <p:cNvPicPr>
            <a:picLocks noChangeAspect="1"/>
          </p:cNvPicPr>
          <p:nvPr/>
        </p:nvPicPr>
        <p:blipFill>
          <a:blip r:embed="rId2"/>
          <a:stretch>
            <a:fillRect/>
          </a:stretch>
        </p:blipFill>
        <p:spPr>
          <a:xfrm>
            <a:off x="0" y="0"/>
            <a:ext cx="8056573" cy="6858000"/>
          </a:xfrm>
          <a:prstGeom prst="rect">
            <a:avLst/>
          </a:prstGeom>
          <a:ln>
            <a:solidFill>
              <a:schemeClr val="tx1"/>
            </a:solidFill>
          </a:ln>
        </p:spPr>
      </p:pic>
      <p:cxnSp>
        <p:nvCxnSpPr>
          <p:cNvPr id="10" name="Straight Arrow Connector 9">
            <a:extLst>
              <a:ext uri="{FF2B5EF4-FFF2-40B4-BE49-F238E27FC236}">
                <a16:creationId xmlns:a16="http://schemas.microsoft.com/office/drawing/2014/main" id="{F26326F0-D70A-3B61-8707-B451C5AD6F37}"/>
              </a:ext>
            </a:extLst>
          </p:cNvPr>
          <p:cNvCxnSpPr/>
          <p:nvPr/>
        </p:nvCxnSpPr>
        <p:spPr>
          <a:xfrm flipH="1" flipV="1">
            <a:off x="859536" y="210312"/>
            <a:ext cx="7836408" cy="18288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A2C8ABB8-8869-DA35-3D36-86C2CC62E567}"/>
              </a:ext>
            </a:extLst>
          </p:cNvPr>
          <p:cNvSpPr txBox="1"/>
          <p:nvPr/>
        </p:nvSpPr>
        <p:spPr>
          <a:xfrm>
            <a:off x="8695944" y="0"/>
            <a:ext cx="3179755" cy="2862322"/>
          </a:xfrm>
          <a:prstGeom prst="rect">
            <a:avLst/>
          </a:prstGeom>
          <a:noFill/>
          <a:ln>
            <a:solidFill>
              <a:srgbClr val="FF0000"/>
            </a:solidFill>
          </a:ln>
        </p:spPr>
        <p:txBody>
          <a:bodyPr wrap="square" rtlCol="0">
            <a:spAutoFit/>
          </a:bodyPr>
          <a:lstStyle/>
          <a:p>
            <a:r>
              <a:rPr lang="en-US" dirty="0"/>
              <a:t>Click the &lt; icon in the top-right corner of the left sidebar to make the interface full screen (i.e., hide the sidebar). This is especially helpful if your device screen is small and can’t display the image properly, which would hamper the ability to draw bounding boxes.</a:t>
            </a:r>
          </a:p>
        </p:txBody>
      </p:sp>
      <p:cxnSp>
        <p:nvCxnSpPr>
          <p:cNvPr id="13" name="Straight Arrow Connector 12">
            <a:extLst>
              <a:ext uri="{FF2B5EF4-FFF2-40B4-BE49-F238E27FC236}">
                <a16:creationId xmlns:a16="http://schemas.microsoft.com/office/drawing/2014/main" id="{C5835A80-3F19-4F8B-2B8B-0F2114BD5E94}"/>
              </a:ext>
            </a:extLst>
          </p:cNvPr>
          <p:cNvCxnSpPr/>
          <p:nvPr/>
        </p:nvCxnSpPr>
        <p:spPr>
          <a:xfrm flipH="1" flipV="1">
            <a:off x="5138928" y="2459736"/>
            <a:ext cx="4151376" cy="169164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8064CF89-0206-D1A1-2F6E-2DF4FBA819CC}"/>
              </a:ext>
            </a:extLst>
          </p:cNvPr>
          <p:cNvCxnSpPr/>
          <p:nvPr/>
        </p:nvCxnSpPr>
        <p:spPr>
          <a:xfrm flipH="1" flipV="1">
            <a:off x="7059168" y="1874520"/>
            <a:ext cx="2304288" cy="21945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8219944A-0D64-75F4-A7E0-D67C32FECD7F}"/>
              </a:ext>
            </a:extLst>
          </p:cNvPr>
          <p:cNvSpPr txBox="1"/>
          <p:nvPr/>
        </p:nvSpPr>
        <p:spPr>
          <a:xfrm>
            <a:off x="8880521" y="4189274"/>
            <a:ext cx="2995178" cy="1754326"/>
          </a:xfrm>
          <a:prstGeom prst="rect">
            <a:avLst/>
          </a:prstGeom>
          <a:noFill/>
        </p:spPr>
        <p:txBody>
          <a:bodyPr wrap="square" rtlCol="0">
            <a:spAutoFit/>
          </a:bodyPr>
          <a:lstStyle/>
          <a:p>
            <a:r>
              <a:rPr lang="en-US" dirty="0"/>
              <a:t>When you draw a bounding box on an image, you are required to assign a label. A label field will appear for each bounding box you create.</a:t>
            </a:r>
          </a:p>
        </p:txBody>
      </p:sp>
    </p:spTree>
    <p:extLst>
      <p:ext uri="{BB962C8B-B14F-4D97-AF65-F5344CB8AC3E}">
        <p14:creationId xmlns:p14="http://schemas.microsoft.com/office/powerpoint/2010/main" val="7623816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03B4658E-1954-30CE-EFA3-10E02E287586}"/>
              </a:ext>
            </a:extLst>
          </p:cNvPr>
          <p:cNvPicPr>
            <a:picLocks noChangeAspect="1"/>
          </p:cNvPicPr>
          <p:nvPr/>
        </p:nvPicPr>
        <p:blipFill>
          <a:blip r:embed="rId2"/>
          <a:stretch>
            <a:fillRect/>
          </a:stretch>
        </p:blipFill>
        <p:spPr>
          <a:xfrm>
            <a:off x="0" y="0"/>
            <a:ext cx="8056573" cy="6858000"/>
          </a:xfrm>
          <a:prstGeom prst="rect">
            <a:avLst/>
          </a:prstGeom>
          <a:ln>
            <a:solidFill>
              <a:schemeClr val="tx1"/>
            </a:solidFill>
          </a:ln>
        </p:spPr>
      </p:pic>
      <p:sp>
        <p:nvSpPr>
          <p:cNvPr id="5" name="Rectangle 4">
            <a:extLst>
              <a:ext uri="{FF2B5EF4-FFF2-40B4-BE49-F238E27FC236}">
                <a16:creationId xmlns:a16="http://schemas.microsoft.com/office/drawing/2014/main" id="{AD003BBE-B646-99C7-F11A-B88B4CD85180}"/>
              </a:ext>
            </a:extLst>
          </p:cNvPr>
          <p:cNvSpPr/>
          <p:nvPr/>
        </p:nvSpPr>
        <p:spPr>
          <a:xfrm>
            <a:off x="1874520" y="1856232"/>
            <a:ext cx="2075688" cy="288036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0292C2F-F078-AE25-342F-C66969471251}"/>
              </a:ext>
            </a:extLst>
          </p:cNvPr>
          <p:cNvSpPr txBox="1"/>
          <p:nvPr/>
        </p:nvSpPr>
        <p:spPr>
          <a:xfrm>
            <a:off x="8269948" y="2455211"/>
            <a:ext cx="3664386" cy="1754326"/>
          </a:xfrm>
          <a:prstGeom prst="rect">
            <a:avLst/>
          </a:prstGeom>
          <a:noFill/>
          <a:ln>
            <a:solidFill>
              <a:srgbClr val="FF0000"/>
            </a:solidFill>
          </a:ln>
        </p:spPr>
        <p:txBody>
          <a:bodyPr wrap="square" rtlCol="0">
            <a:spAutoFit/>
          </a:bodyPr>
          <a:lstStyle/>
          <a:p>
            <a:r>
              <a:rPr lang="en-US" dirty="0"/>
              <a:t>These are the single task questions available for the image. They are shown to assist you. Do not copy and paste these questions, as you are required to create composed QAs, not single-task QAs.</a:t>
            </a:r>
          </a:p>
        </p:txBody>
      </p:sp>
      <p:cxnSp>
        <p:nvCxnSpPr>
          <p:cNvPr id="8" name="Straight Arrow Connector 7">
            <a:extLst>
              <a:ext uri="{FF2B5EF4-FFF2-40B4-BE49-F238E27FC236}">
                <a16:creationId xmlns:a16="http://schemas.microsoft.com/office/drawing/2014/main" id="{9BDFC2BD-4B88-1EA7-0DF1-B8AEDC749150}"/>
              </a:ext>
            </a:extLst>
          </p:cNvPr>
          <p:cNvCxnSpPr>
            <a:stCxn id="6" idx="1"/>
            <a:endCxn id="5" idx="3"/>
          </p:cNvCxnSpPr>
          <p:nvPr/>
        </p:nvCxnSpPr>
        <p:spPr>
          <a:xfrm flipH="1" flipV="1">
            <a:off x="3950208" y="3296412"/>
            <a:ext cx="4319740" cy="359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708FCBA9-1BB6-E3C8-E1E9-2AAE3720ACA1}"/>
              </a:ext>
            </a:extLst>
          </p:cNvPr>
          <p:cNvCxnSpPr/>
          <p:nvPr/>
        </p:nvCxnSpPr>
        <p:spPr>
          <a:xfrm flipH="1">
            <a:off x="3695307" y="1206631"/>
            <a:ext cx="4911365" cy="46191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7A8FE884-4177-AAB0-D621-F9B902631E32}"/>
              </a:ext>
            </a:extLst>
          </p:cNvPr>
          <p:cNvSpPr txBox="1"/>
          <p:nvPr/>
        </p:nvSpPr>
        <p:spPr>
          <a:xfrm>
            <a:off x="8606672" y="883465"/>
            <a:ext cx="3346515" cy="646331"/>
          </a:xfrm>
          <a:prstGeom prst="rect">
            <a:avLst/>
          </a:prstGeom>
          <a:noFill/>
          <a:ln>
            <a:solidFill>
              <a:srgbClr val="FF0000"/>
            </a:solidFill>
          </a:ln>
        </p:spPr>
        <p:txBody>
          <a:bodyPr wrap="square" rtlCol="0">
            <a:spAutoFit/>
          </a:bodyPr>
          <a:lstStyle/>
          <a:p>
            <a:r>
              <a:rPr lang="en-US" dirty="0"/>
              <a:t>Click here to learn the purpose of displaying these QAs.</a:t>
            </a:r>
          </a:p>
        </p:txBody>
      </p:sp>
    </p:spTree>
    <p:extLst>
      <p:ext uri="{BB962C8B-B14F-4D97-AF65-F5344CB8AC3E}">
        <p14:creationId xmlns:p14="http://schemas.microsoft.com/office/powerpoint/2010/main" val="1956808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31CE831A-D257-094E-D068-E07E5DB95E92}"/>
              </a:ext>
            </a:extLst>
          </p:cNvPr>
          <p:cNvPicPr>
            <a:picLocks noChangeAspect="1"/>
          </p:cNvPicPr>
          <p:nvPr/>
        </p:nvPicPr>
        <p:blipFill>
          <a:blip r:embed="rId2"/>
          <a:stretch>
            <a:fillRect/>
          </a:stretch>
        </p:blipFill>
        <p:spPr>
          <a:xfrm>
            <a:off x="0" y="0"/>
            <a:ext cx="8056573" cy="6858000"/>
          </a:xfrm>
          <a:prstGeom prst="rect">
            <a:avLst/>
          </a:prstGeom>
          <a:ln>
            <a:solidFill>
              <a:schemeClr val="tx1"/>
            </a:solidFill>
          </a:ln>
        </p:spPr>
      </p:pic>
      <p:sp>
        <p:nvSpPr>
          <p:cNvPr id="7" name="Rectangle 6">
            <a:extLst>
              <a:ext uri="{FF2B5EF4-FFF2-40B4-BE49-F238E27FC236}">
                <a16:creationId xmlns:a16="http://schemas.microsoft.com/office/drawing/2014/main" id="{FE4A4CEE-961D-78E5-B50A-5EDC284766EF}"/>
              </a:ext>
            </a:extLst>
          </p:cNvPr>
          <p:cNvSpPr/>
          <p:nvPr/>
        </p:nvSpPr>
        <p:spPr>
          <a:xfrm>
            <a:off x="3950208" y="3127248"/>
            <a:ext cx="2523744" cy="270662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573E121-B255-C97E-0F28-70BF9F9E7408}"/>
              </a:ext>
            </a:extLst>
          </p:cNvPr>
          <p:cNvSpPr txBox="1"/>
          <p:nvPr/>
        </p:nvSpPr>
        <p:spPr>
          <a:xfrm>
            <a:off x="8461688" y="889843"/>
            <a:ext cx="3434939" cy="5078313"/>
          </a:xfrm>
          <a:prstGeom prst="rect">
            <a:avLst/>
          </a:prstGeom>
          <a:noFill/>
          <a:ln>
            <a:solidFill>
              <a:srgbClr val="FF0000"/>
            </a:solidFill>
          </a:ln>
        </p:spPr>
        <p:txBody>
          <a:bodyPr wrap="square" rtlCol="0">
            <a:spAutoFit/>
          </a:bodyPr>
          <a:lstStyle/>
          <a:p>
            <a:r>
              <a:rPr lang="en-US" dirty="0"/>
              <a:t>This is the annotation form. You will need to create a composed question that consists of at least two tasks. Then, select how confident you are that it is a high-quality question. Next, provide an answer and indicate how correct you believe the answer is. You must also select at least two tasks that belong to this question (more than two is allowed). Finally, you need to draw at least one bounding box and label it. The bounding box should highlight the part of the image that others need to focus on to answer the question if they do not see the answer.</a:t>
            </a:r>
          </a:p>
        </p:txBody>
      </p:sp>
      <p:cxnSp>
        <p:nvCxnSpPr>
          <p:cNvPr id="10" name="Straight Arrow Connector 9">
            <a:extLst>
              <a:ext uri="{FF2B5EF4-FFF2-40B4-BE49-F238E27FC236}">
                <a16:creationId xmlns:a16="http://schemas.microsoft.com/office/drawing/2014/main" id="{8D2760CB-F2D1-CADC-9DC0-48978547745F}"/>
              </a:ext>
            </a:extLst>
          </p:cNvPr>
          <p:cNvCxnSpPr>
            <a:stCxn id="8" idx="1"/>
            <a:endCxn id="7" idx="3"/>
          </p:cNvCxnSpPr>
          <p:nvPr/>
        </p:nvCxnSpPr>
        <p:spPr>
          <a:xfrm flipH="1">
            <a:off x="6473952" y="3429000"/>
            <a:ext cx="1987736" cy="10515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25764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C2983-2643-B074-E8A8-C73307DF0879}"/>
              </a:ext>
            </a:extLst>
          </p:cNvPr>
          <p:cNvSpPr>
            <a:spLocks noGrp="1"/>
          </p:cNvSpPr>
          <p:nvPr>
            <p:ph type="title"/>
          </p:nvPr>
        </p:nvSpPr>
        <p:spPr/>
        <p:txBody>
          <a:bodyPr/>
          <a:lstStyle/>
          <a:p>
            <a:r>
              <a:rPr lang="en-US" dirty="0"/>
              <a:t>Annotation form</a:t>
            </a:r>
          </a:p>
        </p:txBody>
      </p:sp>
      <p:pic>
        <p:nvPicPr>
          <p:cNvPr id="7" name="Picture 6" descr="A screenshot of a questionnaire&#10;&#10;AI-generated content may be incorrect.">
            <a:extLst>
              <a:ext uri="{FF2B5EF4-FFF2-40B4-BE49-F238E27FC236}">
                <a16:creationId xmlns:a16="http://schemas.microsoft.com/office/drawing/2014/main" id="{84565C00-7947-3549-2B8B-65412CFD6766}"/>
              </a:ext>
            </a:extLst>
          </p:cNvPr>
          <p:cNvPicPr>
            <a:picLocks noChangeAspect="1"/>
          </p:cNvPicPr>
          <p:nvPr/>
        </p:nvPicPr>
        <p:blipFill>
          <a:blip r:embed="rId2"/>
          <a:stretch>
            <a:fillRect/>
          </a:stretch>
        </p:blipFill>
        <p:spPr>
          <a:xfrm>
            <a:off x="143256" y="1690688"/>
            <a:ext cx="4273594" cy="4641374"/>
          </a:xfrm>
          <a:prstGeom prst="rect">
            <a:avLst/>
          </a:prstGeom>
        </p:spPr>
      </p:pic>
      <p:cxnSp>
        <p:nvCxnSpPr>
          <p:cNvPr id="9" name="Straight Arrow Connector 8">
            <a:extLst>
              <a:ext uri="{FF2B5EF4-FFF2-40B4-BE49-F238E27FC236}">
                <a16:creationId xmlns:a16="http://schemas.microsoft.com/office/drawing/2014/main" id="{0C942E70-430B-9C89-FCCB-78B8D0E91C7B}"/>
              </a:ext>
            </a:extLst>
          </p:cNvPr>
          <p:cNvCxnSpPr/>
          <p:nvPr/>
        </p:nvCxnSpPr>
        <p:spPr>
          <a:xfrm flipH="1">
            <a:off x="1463040" y="2505456"/>
            <a:ext cx="6144768" cy="7315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01B96274-A757-DCAB-DD40-AE421968C554}"/>
              </a:ext>
            </a:extLst>
          </p:cNvPr>
          <p:cNvCxnSpPr/>
          <p:nvPr/>
        </p:nvCxnSpPr>
        <p:spPr>
          <a:xfrm flipH="1">
            <a:off x="1463040" y="3867595"/>
            <a:ext cx="6144768" cy="7315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03811913-39C5-451A-65FF-F58882CFFAEB}"/>
              </a:ext>
            </a:extLst>
          </p:cNvPr>
          <p:cNvSpPr txBox="1"/>
          <p:nvPr/>
        </p:nvSpPr>
        <p:spPr>
          <a:xfrm>
            <a:off x="7863840" y="2450592"/>
            <a:ext cx="2267712" cy="1477328"/>
          </a:xfrm>
          <a:prstGeom prst="rect">
            <a:avLst/>
          </a:prstGeom>
          <a:noFill/>
          <a:ln>
            <a:solidFill>
              <a:srgbClr val="FF0000"/>
            </a:solidFill>
          </a:ln>
        </p:spPr>
        <p:txBody>
          <a:bodyPr wrap="square" rtlCol="0">
            <a:spAutoFit/>
          </a:bodyPr>
          <a:lstStyle/>
          <a:p>
            <a:r>
              <a:rPr lang="en-US" dirty="0"/>
              <a:t>These ratings do not affect your project grade, so ensure you provide them accurately and fairly.</a:t>
            </a:r>
          </a:p>
        </p:txBody>
      </p:sp>
      <p:sp>
        <p:nvSpPr>
          <p:cNvPr id="12" name="TextBox 11">
            <a:extLst>
              <a:ext uri="{FF2B5EF4-FFF2-40B4-BE49-F238E27FC236}">
                <a16:creationId xmlns:a16="http://schemas.microsoft.com/office/drawing/2014/main" id="{95BF5963-6E54-570D-FD96-886E1F12C6D4}"/>
              </a:ext>
            </a:extLst>
          </p:cNvPr>
          <p:cNvSpPr txBox="1"/>
          <p:nvPr/>
        </p:nvSpPr>
        <p:spPr>
          <a:xfrm>
            <a:off x="5912806" y="5299004"/>
            <a:ext cx="5913434" cy="923330"/>
          </a:xfrm>
          <a:prstGeom prst="rect">
            <a:avLst/>
          </a:prstGeom>
          <a:solidFill>
            <a:schemeClr val="bg2"/>
          </a:solidFill>
          <a:effectLst>
            <a:outerShdw blurRad="63500" sx="102000" sy="102000" algn="ctr" rotWithShape="0">
              <a:prstClr val="black">
                <a:alpha val="40000"/>
              </a:prstClr>
            </a:outerShdw>
          </a:effectLst>
        </p:spPr>
        <p:txBody>
          <a:bodyPr wrap="square" rtlCol="0">
            <a:spAutoFit/>
          </a:bodyPr>
          <a:lstStyle/>
          <a:p>
            <a:r>
              <a:rPr lang="en-US" dirty="0"/>
              <a:t>Your annotation and answer quality will be assessed by the professor and TAs, which will be used to determine your grade.</a:t>
            </a:r>
          </a:p>
        </p:txBody>
      </p:sp>
    </p:spTree>
    <p:extLst>
      <p:ext uri="{BB962C8B-B14F-4D97-AF65-F5344CB8AC3E}">
        <p14:creationId xmlns:p14="http://schemas.microsoft.com/office/powerpoint/2010/main" val="2959080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8F5C2891-5BCA-0F23-6FAC-D9BD40A02ED7}"/>
              </a:ext>
            </a:extLst>
          </p:cNvPr>
          <p:cNvPicPr>
            <a:picLocks noChangeAspect="1"/>
          </p:cNvPicPr>
          <p:nvPr/>
        </p:nvPicPr>
        <p:blipFill>
          <a:blip r:embed="rId2"/>
          <a:stretch>
            <a:fillRect/>
          </a:stretch>
        </p:blipFill>
        <p:spPr>
          <a:xfrm>
            <a:off x="0" y="0"/>
            <a:ext cx="8056573" cy="6858000"/>
          </a:xfrm>
          <a:prstGeom prst="rect">
            <a:avLst/>
          </a:prstGeom>
          <a:ln>
            <a:solidFill>
              <a:schemeClr val="tx1"/>
            </a:solidFill>
          </a:ln>
        </p:spPr>
      </p:pic>
      <p:sp>
        <p:nvSpPr>
          <p:cNvPr id="5" name="Rectangle 4">
            <a:extLst>
              <a:ext uri="{FF2B5EF4-FFF2-40B4-BE49-F238E27FC236}">
                <a16:creationId xmlns:a16="http://schemas.microsoft.com/office/drawing/2014/main" id="{3439F168-4F22-E74D-E2EE-7F6380EC3772}"/>
              </a:ext>
            </a:extLst>
          </p:cNvPr>
          <p:cNvSpPr/>
          <p:nvPr/>
        </p:nvSpPr>
        <p:spPr>
          <a:xfrm>
            <a:off x="1069848" y="896112"/>
            <a:ext cx="6830568" cy="4572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9D4C04C-3A04-CA9F-334B-A688013EA92C}"/>
              </a:ext>
            </a:extLst>
          </p:cNvPr>
          <p:cNvSpPr txBox="1"/>
          <p:nvPr/>
        </p:nvSpPr>
        <p:spPr>
          <a:xfrm>
            <a:off x="8430768" y="658368"/>
            <a:ext cx="3578980" cy="1200329"/>
          </a:xfrm>
          <a:prstGeom prst="rect">
            <a:avLst/>
          </a:prstGeom>
          <a:noFill/>
          <a:ln>
            <a:solidFill>
              <a:srgbClr val="FF0000"/>
            </a:solidFill>
          </a:ln>
        </p:spPr>
        <p:txBody>
          <a:bodyPr wrap="square" rtlCol="0">
            <a:spAutoFit/>
          </a:bodyPr>
          <a:lstStyle/>
          <a:p>
            <a:r>
              <a:rPr lang="en-US" dirty="0"/>
              <a:t>This information is for informational purposes only. There is no need to rush—annotation quality is the priority.</a:t>
            </a:r>
          </a:p>
        </p:txBody>
      </p:sp>
      <p:cxnSp>
        <p:nvCxnSpPr>
          <p:cNvPr id="8" name="Straight Arrow Connector 7">
            <a:extLst>
              <a:ext uri="{FF2B5EF4-FFF2-40B4-BE49-F238E27FC236}">
                <a16:creationId xmlns:a16="http://schemas.microsoft.com/office/drawing/2014/main" id="{21067814-B656-EF44-961B-D6E9AFB64906}"/>
              </a:ext>
            </a:extLst>
          </p:cNvPr>
          <p:cNvCxnSpPr>
            <a:stCxn id="6" idx="1"/>
          </p:cNvCxnSpPr>
          <p:nvPr/>
        </p:nvCxnSpPr>
        <p:spPr>
          <a:xfrm flipH="1" flipV="1">
            <a:off x="7900416" y="1112363"/>
            <a:ext cx="530352" cy="14617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1AC71A58-AD59-C75E-05AC-64F43CEE73AC}"/>
              </a:ext>
            </a:extLst>
          </p:cNvPr>
          <p:cNvSpPr/>
          <p:nvPr/>
        </p:nvSpPr>
        <p:spPr>
          <a:xfrm>
            <a:off x="5033912" y="5961888"/>
            <a:ext cx="1480009" cy="4572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2E67FE1-80B6-D329-2350-D7A4B883695E}"/>
              </a:ext>
            </a:extLst>
          </p:cNvPr>
          <p:cNvSpPr txBox="1"/>
          <p:nvPr/>
        </p:nvSpPr>
        <p:spPr>
          <a:xfrm>
            <a:off x="8512404" y="5335571"/>
            <a:ext cx="3421930" cy="1477328"/>
          </a:xfrm>
          <a:prstGeom prst="rect">
            <a:avLst/>
          </a:prstGeom>
          <a:noFill/>
          <a:ln>
            <a:solidFill>
              <a:srgbClr val="FF0000"/>
            </a:solidFill>
          </a:ln>
        </p:spPr>
        <p:txBody>
          <a:bodyPr wrap="square" rtlCol="0">
            <a:spAutoFit/>
          </a:bodyPr>
          <a:lstStyle/>
          <a:p>
            <a:r>
              <a:rPr lang="en-US" dirty="0"/>
              <a:t>You are assigned 200 unique images, so feel free to skip any image if you feel you cannot come up with composed questions.</a:t>
            </a:r>
          </a:p>
        </p:txBody>
      </p:sp>
      <p:cxnSp>
        <p:nvCxnSpPr>
          <p:cNvPr id="12" name="Straight Arrow Connector 11">
            <a:extLst>
              <a:ext uri="{FF2B5EF4-FFF2-40B4-BE49-F238E27FC236}">
                <a16:creationId xmlns:a16="http://schemas.microsoft.com/office/drawing/2014/main" id="{3D8182D1-9777-D272-42BA-A94167224722}"/>
              </a:ext>
            </a:extLst>
          </p:cNvPr>
          <p:cNvCxnSpPr>
            <a:stCxn id="10" idx="1"/>
          </p:cNvCxnSpPr>
          <p:nvPr/>
        </p:nvCxnSpPr>
        <p:spPr>
          <a:xfrm flipH="1">
            <a:off x="6513921" y="6074235"/>
            <a:ext cx="1998483" cy="12860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F261B49D-B554-59EA-8FFD-E736B2E1B489}"/>
              </a:ext>
            </a:extLst>
          </p:cNvPr>
          <p:cNvSpPr/>
          <p:nvPr/>
        </p:nvSpPr>
        <p:spPr>
          <a:xfrm>
            <a:off x="3930977" y="5448693"/>
            <a:ext cx="970961" cy="32051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8C8C808-09C4-62CD-38F9-C1C195D44298}"/>
              </a:ext>
            </a:extLst>
          </p:cNvPr>
          <p:cNvSpPr txBox="1"/>
          <p:nvPr/>
        </p:nvSpPr>
        <p:spPr>
          <a:xfrm>
            <a:off x="8512404" y="2690336"/>
            <a:ext cx="3421930" cy="1754326"/>
          </a:xfrm>
          <a:prstGeom prst="rect">
            <a:avLst/>
          </a:prstGeom>
          <a:noFill/>
          <a:ln>
            <a:solidFill>
              <a:srgbClr val="FF0000"/>
            </a:solidFill>
          </a:ln>
        </p:spPr>
        <p:txBody>
          <a:bodyPr wrap="square" rtlCol="0">
            <a:spAutoFit/>
          </a:bodyPr>
          <a:lstStyle/>
          <a:p>
            <a:r>
              <a:rPr lang="en-US" dirty="0"/>
              <a:t>You can submit multiple composed questions for a single image by completing the form and clicking Submit multiple times if you can think of more than one question for that image.</a:t>
            </a:r>
          </a:p>
        </p:txBody>
      </p:sp>
      <p:cxnSp>
        <p:nvCxnSpPr>
          <p:cNvPr id="16" name="Straight Arrow Connector 15">
            <a:extLst>
              <a:ext uri="{FF2B5EF4-FFF2-40B4-BE49-F238E27FC236}">
                <a16:creationId xmlns:a16="http://schemas.microsoft.com/office/drawing/2014/main" id="{D58D5ABB-61BB-C464-30F8-82246F379307}"/>
              </a:ext>
            </a:extLst>
          </p:cNvPr>
          <p:cNvCxnSpPr>
            <a:stCxn id="14" idx="1"/>
          </p:cNvCxnSpPr>
          <p:nvPr/>
        </p:nvCxnSpPr>
        <p:spPr>
          <a:xfrm flipH="1">
            <a:off x="4901938" y="3567499"/>
            <a:ext cx="3610466" cy="204144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00854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5D3BCC65-F164-8D7B-90FC-6F25B6A1CE9B}"/>
              </a:ext>
            </a:extLst>
          </p:cNvPr>
          <p:cNvPicPr>
            <a:picLocks noChangeAspect="1"/>
          </p:cNvPicPr>
          <p:nvPr/>
        </p:nvPicPr>
        <p:blipFill>
          <a:blip r:embed="rId2"/>
          <a:stretch>
            <a:fillRect/>
          </a:stretch>
        </p:blipFill>
        <p:spPr>
          <a:xfrm>
            <a:off x="0" y="1119433"/>
            <a:ext cx="9258982" cy="4619134"/>
          </a:xfrm>
          <a:prstGeom prst="rect">
            <a:avLst/>
          </a:prstGeom>
        </p:spPr>
      </p:pic>
      <p:sp>
        <p:nvSpPr>
          <p:cNvPr id="6" name="Rectangle 5">
            <a:extLst>
              <a:ext uri="{FF2B5EF4-FFF2-40B4-BE49-F238E27FC236}">
                <a16:creationId xmlns:a16="http://schemas.microsoft.com/office/drawing/2014/main" id="{611C50B2-2E9B-04D9-D988-8C54C58F8E1F}"/>
              </a:ext>
            </a:extLst>
          </p:cNvPr>
          <p:cNvSpPr/>
          <p:nvPr/>
        </p:nvSpPr>
        <p:spPr>
          <a:xfrm>
            <a:off x="0" y="2149311"/>
            <a:ext cx="1574276" cy="24509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6CEED4F-53E7-C8F1-0BC1-48B399037042}"/>
              </a:ext>
            </a:extLst>
          </p:cNvPr>
          <p:cNvSpPr/>
          <p:nvPr/>
        </p:nvSpPr>
        <p:spPr>
          <a:xfrm>
            <a:off x="1847654" y="2526384"/>
            <a:ext cx="1244338" cy="30165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3FF4E77-A198-F0D8-96C8-C4F42447183C}"/>
              </a:ext>
            </a:extLst>
          </p:cNvPr>
          <p:cNvSpPr/>
          <p:nvPr/>
        </p:nvSpPr>
        <p:spPr>
          <a:xfrm>
            <a:off x="1960775" y="3016577"/>
            <a:ext cx="2526384" cy="22624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402F142-8854-85D1-0945-500737D46F17}"/>
              </a:ext>
            </a:extLst>
          </p:cNvPr>
          <p:cNvSpPr/>
          <p:nvPr/>
        </p:nvSpPr>
        <p:spPr>
          <a:xfrm>
            <a:off x="1960775" y="3346515"/>
            <a:ext cx="2601798" cy="239205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71AD3D5-4CE5-473C-7BCE-C13FDB58A834}"/>
              </a:ext>
            </a:extLst>
          </p:cNvPr>
          <p:cNvSpPr txBox="1"/>
          <p:nvPr/>
        </p:nvSpPr>
        <p:spPr>
          <a:xfrm>
            <a:off x="9539926" y="1555423"/>
            <a:ext cx="2450969" cy="1200329"/>
          </a:xfrm>
          <a:prstGeom prst="rect">
            <a:avLst/>
          </a:prstGeom>
          <a:noFill/>
          <a:ln>
            <a:solidFill>
              <a:srgbClr val="FF0000"/>
            </a:solidFill>
          </a:ln>
        </p:spPr>
        <p:txBody>
          <a:bodyPr wrap="square" rtlCol="0">
            <a:spAutoFit/>
          </a:bodyPr>
          <a:lstStyle/>
          <a:p>
            <a:r>
              <a:rPr lang="en-US" dirty="0"/>
              <a:t>On this page, you will see annotations provided by others, excluding your own.</a:t>
            </a:r>
          </a:p>
        </p:txBody>
      </p:sp>
      <p:sp>
        <p:nvSpPr>
          <p:cNvPr id="11" name="TextBox 10">
            <a:extLst>
              <a:ext uri="{FF2B5EF4-FFF2-40B4-BE49-F238E27FC236}">
                <a16:creationId xmlns:a16="http://schemas.microsoft.com/office/drawing/2014/main" id="{559946C0-646E-A17D-61B0-C24C5109D9BE}"/>
              </a:ext>
            </a:extLst>
          </p:cNvPr>
          <p:cNvSpPr txBox="1"/>
          <p:nvPr/>
        </p:nvSpPr>
        <p:spPr>
          <a:xfrm>
            <a:off x="9491472" y="3242821"/>
            <a:ext cx="2317814" cy="369332"/>
          </a:xfrm>
          <a:prstGeom prst="rect">
            <a:avLst/>
          </a:prstGeom>
          <a:noFill/>
          <a:ln>
            <a:solidFill>
              <a:srgbClr val="FF0000"/>
            </a:solidFill>
          </a:ln>
        </p:spPr>
        <p:txBody>
          <a:bodyPr wrap="none" rtlCol="0">
            <a:spAutoFit/>
          </a:bodyPr>
          <a:lstStyle/>
          <a:p>
            <a:r>
              <a:rPr lang="en-US" dirty="0"/>
              <a:t>Question is read only.</a:t>
            </a:r>
          </a:p>
        </p:txBody>
      </p:sp>
      <p:sp>
        <p:nvSpPr>
          <p:cNvPr id="12" name="TextBox 11">
            <a:extLst>
              <a:ext uri="{FF2B5EF4-FFF2-40B4-BE49-F238E27FC236}">
                <a16:creationId xmlns:a16="http://schemas.microsoft.com/office/drawing/2014/main" id="{B3C07086-A742-AE0A-8157-900A6134431E}"/>
              </a:ext>
            </a:extLst>
          </p:cNvPr>
          <p:cNvSpPr txBox="1"/>
          <p:nvPr/>
        </p:nvSpPr>
        <p:spPr>
          <a:xfrm>
            <a:off x="7561580" y="4223186"/>
            <a:ext cx="4630420" cy="2308324"/>
          </a:xfrm>
          <a:prstGeom prst="rect">
            <a:avLst/>
          </a:prstGeom>
          <a:solidFill>
            <a:schemeClr val="bg1"/>
          </a:solidFill>
          <a:ln>
            <a:solidFill>
              <a:srgbClr val="FF0000"/>
            </a:solidFill>
          </a:ln>
        </p:spPr>
        <p:txBody>
          <a:bodyPr wrap="square" rtlCol="0">
            <a:spAutoFit/>
          </a:bodyPr>
          <a:lstStyle/>
          <a:p>
            <a:r>
              <a:rPr lang="en-US" dirty="0"/>
              <a:t>You will need to provide an answer and indicate your confidence in its correctness. You should also rate the quality of the question. Additionally, you need to draw a bounding box on the part of the image you used to determine your answer and label </a:t>
            </a:r>
            <a:r>
              <a:rPr lang="en-US" dirty="0" err="1"/>
              <a:t>it.If</a:t>
            </a:r>
            <a:r>
              <a:rPr lang="en-US" dirty="0"/>
              <a:t> you believe multiple answers are possible, you may submit the form multiple times.</a:t>
            </a:r>
          </a:p>
        </p:txBody>
      </p:sp>
      <p:cxnSp>
        <p:nvCxnSpPr>
          <p:cNvPr id="14" name="Straight Arrow Connector 13">
            <a:extLst>
              <a:ext uri="{FF2B5EF4-FFF2-40B4-BE49-F238E27FC236}">
                <a16:creationId xmlns:a16="http://schemas.microsoft.com/office/drawing/2014/main" id="{593E1C45-A6B6-0C4B-FF70-2834936963E8}"/>
              </a:ext>
            </a:extLst>
          </p:cNvPr>
          <p:cNvCxnSpPr>
            <a:stCxn id="10" idx="1"/>
          </p:cNvCxnSpPr>
          <p:nvPr/>
        </p:nvCxnSpPr>
        <p:spPr>
          <a:xfrm flipH="1">
            <a:off x="3091992" y="2155588"/>
            <a:ext cx="6447934" cy="52162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A08CECAC-2F3F-8CB1-604E-7D4A4F2099F1}"/>
              </a:ext>
            </a:extLst>
          </p:cNvPr>
          <p:cNvCxnSpPr>
            <a:stCxn id="10" idx="1"/>
          </p:cNvCxnSpPr>
          <p:nvPr/>
        </p:nvCxnSpPr>
        <p:spPr>
          <a:xfrm flipH="1">
            <a:off x="1574276" y="2155588"/>
            <a:ext cx="7965650" cy="11627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A25807B1-D3D8-E209-7841-9FAAFE768F18}"/>
              </a:ext>
            </a:extLst>
          </p:cNvPr>
          <p:cNvCxnSpPr>
            <a:stCxn id="11" idx="1"/>
          </p:cNvCxnSpPr>
          <p:nvPr/>
        </p:nvCxnSpPr>
        <p:spPr>
          <a:xfrm flipH="1" flipV="1">
            <a:off x="4487159" y="3129699"/>
            <a:ext cx="5004313" cy="29778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F379E405-925A-CE33-0A51-014739444EB9}"/>
              </a:ext>
            </a:extLst>
          </p:cNvPr>
          <p:cNvCxnSpPr>
            <a:stCxn id="12" idx="1"/>
          </p:cNvCxnSpPr>
          <p:nvPr/>
        </p:nvCxnSpPr>
        <p:spPr>
          <a:xfrm flipH="1" flipV="1">
            <a:off x="4562573" y="4542541"/>
            <a:ext cx="2999007" cy="83480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41164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video chat&#10;&#10;AI-generated content may be incorrect.">
            <a:extLst>
              <a:ext uri="{FF2B5EF4-FFF2-40B4-BE49-F238E27FC236}">
                <a16:creationId xmlns:a16="http://schemas.microsoft.com/office/drawing/2014/main" id="{79818DC3-71CB-BA78-4020-CDFA10F2B871}"/>
              </a:ext>
            </a:extLst>
          </p:cNvPr>
          <p:cNvPicPr>
            <a:picLocks noChangeAspect="1"/>
          </p:cNvPicPr>
          <p:nvPr/>
        </p:nvPicPr>
        <p:blipFill>
          <a:blip r:embed="rId2"/>
          <a:stretch>
            <a:fillRect/>
          </a:stretch>
        </p:blipFill>
        <p:spPr>
          <a:xfrm>
            <a:off x="0" y="0"/>
            <a:ext cx="9450208" cy="4714533"/>
          </a:xfrm>
          <a:prstGeom prst="rect">
            <a:avLst/>
          </a:prstGeom>
        </p:spPr>
      </p:pic>
      <p:sp>
        <p:nvSpPr>
          <p:cNvPr id="6" name="TextBox 5">
            <a:extLst>
              <a:ext uri="{FF2B5EF4-FFF2-40B4-BE49-F238E27FC236}">
                <a16:creationId xmlns:a16="http://schemas.microsoft.com/office/drawing/2014/main" id="{BCF6A2DA-DFF3-3F1B-E571-79D5734E35F2}"/>
              </a:ext>
            </a:extLst>
          </p:cNvPr>
          <p:cNvSpPr txBox="1"/>
          <p:nvPr/>
        </p:nvSpPr>
        <p:spPr>
          <a:xfrm>
            <a:off x="7342287" y="3995678"/>
            <a:ext cx="4849713" cy="2862322"/>
          </a:xfrm>
          <a:prstGeom prst="rect">
            <a:avLst/>
          </a:prstGeom>
          <a:solidFill>
            <a:schemeClr val="bg1"/>
          </a:solidFill>
          <a:ln>
            <a:solidFill>
              <a:srgbClr val="FF0000"/>
            </a:solidFill>
          </a:ln>
        </p:spPr>
        <p:txBody>
          <a:bodyPr wrap="square" rtlCol="0">
            <a:spAutoFit/>
          </a:bodyPr>
          <a:lstStyle/>
          <a:p>
            <a:r>
              <a:rPr lang="en-US" dirty="0"/>
              <a:t>On this page, you will see all the annotations you have completed on the Annotate page. Here, you have the opportunity to submit additional answers to your annotated questions. If you believe your current answer could be improved, or if there is an alternative interpretation, you can add it here — especially in cases where multiple reasonable answers, synonymous phrasing, or subtle distinctions exist.</a:t>
            </a:r>
          </a:p>
        </p:txBody>
      </p:sp>
      <p:cxnSp>
        <p:nvCxnSpPr>
          <p:cNvPr id="8" name="Straight Arrow Connector 7">
            <a:extLst>
              <a:ext uri="{FF2B5EF4-FFF2-40B4-BE49-F238E27FC236}">
                <a16:creationId xmlns:a16="http://schemas.microsoft.com/office/drawing/2014/main" id="{57365DD6-6385-5812-585D-192392EC65B3}"/>
              </a:ext>
            </a:extLst>
          </p:cNvPr>
          <p:cNvCxnSpPr>
            <a:stCxn id="6" idx="1"/>
          </p:cNvCxnSpPr>
          <p:nvPr/>
        </p:nvCxnSpPr>
        <p:spPr>
          <a:xfrm flipH="1" flipV="1">
            <a:off x="1093509" y="1489435"/>
            <a:ext cx="6248778" cy="393740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7337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E798F4CA-DADB-96BE-742E-E28F9FA9ED66}"/>
              </a:ext>
            </a:extLst>
          </p:cNvPr>
          <p:cNvPicPr>
            <a:picLocks noChangeAspect="1"/>
          </p:cNvPicPr>
          <p:nvPr/>
        </p:nvPicPr>
        <p:blipFill>
          <a:blip r:embed="rId2"/>
          <a:stretch>
            <a:fillRect/>
          </a:stretch>
        </p:blipFill>
        <p:spPr>
          <a:xfrm>
            <a:off x="0" y="1181461"/>
            <a:ext cx="9010312" cy="4495077"/>
          </a:xfrm>
          <a:prstGeom prst="rect">
            <a:avLst/>
          </a:prstGeom>
        </p:spPr>
      </p:pic>
      <p:sp>
        <p:nvSpPr>
          <p:cNvPr id="8" name="TextBox 7">
            <a:extLst>
              <a:ext uri="{FF2B5EF4-FFF2-40B4-BE49-F238E27FC236}">
                <a16:creationId xmlns:a16="http://schemas.microsoft.com/office/drawing/2014/main" id="{6BBDE609-2F30-FCBB-6441-EF600D63AD01}"/>
              </a:ext>
            </a:extLst>
          </p:cNvPr>
          <p:cNvSpPr txBox="1"/>
          <p:nvPr/>
        </p:nvSpPr>
        <p:spPr>
          <a:xfrm>
            <a:off x="7342287" y="3995678"/>
            <a:ext cx="4849713" cy="923330"/>
          </a:xfrm>
          <a:prstGeom prst="rect">
            <a:avLst/>
          </a:prstGeom>
          <a:solidFill>
            <a:schemeClr val="bg1"/>
          </a:solidFill>
          <a:ln>
            <a:solidFill>
              <a:srgbClr val="FF0000"/>
            </a:solidFill>
          </a:ln>
        </p:spPr>
        <p:txBody>
          <a:bodyPr wrap="square" rtlCol="0">
            <a:spAutoFit/>
          </a:bodyPr>
          <a:lstStyle/>
          <a:p>
            <a:r>
              <a:rPr lang="en-US" dirty="0"/>
              <a:t>On this page, you will see all the annotations you have reviewed on the Review Annotations page. </a:t>
            </a:r>
          </a:p>
        </p:txBody>
      </p:sp>
      <p:cxnSp>
        <p:nvCxnSpPr>
          <p:cNvPr id="9" name="Straight Arrow Connector 8">
            <a:extLst>
              <a:ext uri="{FF2B5EF4-FFF2-40B4-BE49-F238E27FC236}">
                <a16:creationId xmlns:a16="http://schemas.microsoft.com/office/drawing/2014/main" id="{FAD29B30-9779-59A0-49B8-9270E4280999}"/>
              </a:ext>
            </a:extLst>
          </p:cNvPr>
          <p:cNvCxnSpPr>
            <a:cxnSpLocks/>
            <a:stCxn id="8" idx="1"/>
          </p:cNvCxnSpPr>
          <p:nvPr/>
        </p:nvCxnSpPr>
        <p:spPr>
          <a:xfrm flipH="1" flipV="1">
            <a:off x="904973" y="2837468"/>
            <a:ext cx="6437314" cy="16198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353052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social media post&#10;&#10;AI-generated content may be incorrect.">
            <a:extLst>
              <a:ext uri="{FF2B5EF4-FFF2-40B4-BE49-F238E27FC236}">
                <a16:creationId xmlns:a16="http://schemas.microsoft.com/office/drawing/2014/main" id="{018737E6-16C6-45F4-5847-FB1A34D693CA}"/>
              </a:ext>
            </a:extLst>
          </p:cNvPr>
          <p:cNvPicPr>
            <a:picLocks noChangeAspect="1"/>
          </p:cNvPicPr>
          <p:nvPr/>
        </p:nvPicPr>
        <p:blipFill>
          <a:blip r:embed="rId2"/>
          <a:stretch>
            <a:fillRect/>
          </a:stretch>
        </p:blipFill>
        <p:spPr>
          <a:xfrm>
            <a:off x="0" y="1117453"/>
            <a:ext cx="9266918" cy="4623093"/>
          </a:xfrm>
          <a:prstGeom prst="rect">
            <a:avLst/>
          </a:prstGeom>
        </p:spPr>
      </p:pic>
      <p:sp>
        <p:nvSpPr>
          <p:cNvPr id="6" name="TextBox 5">
            <a:extLst>
              <a:ext uri="{FF2B5EF4-FFF2-40B4-BE49-F238E27FC236}">
                <a16:creationId xmlns:a16="http://schemas.microsoft.com/office/drawing/2014/main" id="{A29319EC-D60D-948D-3038-0255A786CB33}"/>
              </a:ext>
            </a:extLst>
          </p:cNvPr>
          <p:cNvSpPr txBox="1"/>
          <p:nvPr/>
        </p:nvSpPr>
        <p:spPr>
          <a:xfrm>
            <a:off x="9373755" y="1858117"/>
            <a:ext cx="2818245" cy="3416320"/>
          </a:xfrm>
          <a:prstGeom prst="rect">
            <a:avLst/>
          </a:prstGeom>
          <a:noFill/>
          <a:ln>
            <a:solidFill>
              <a:srgbClr val="FF0000"/>
            </a:solidFill>
          </a:ln>
        </p:spPr>
        <p:txBody>
          <a:bodyPr wrap="square" rtlCol="0">
            <a:spAutoFit/>
          </a:bodyPr>
          <a:lstStyle/>
          <a:p>
            <a:r>
              <a:rPr lang="en-US" dirty="0"/>
              <a:t>If you are inactive for 7 minutes, this message will appear. If you click “Yes, I’m here,” you can continue with the current timer. If you click “</a:t>
            </a:r>
            <a:r>
              <a:rPr lang="en-US" dirty="0">
                <a:solidFill>
                  <a:srgbClr val="FF0000"/>
                </a:solidFill>
              </a:rPr>
              <a:t>Reset time</a:t>
            </a:r>
            <a:r>
              <a:rPr lang="en-US" dirty="0"/>
              <a:t>,” the timer will be set back to zero.</a:t>
            </a:r>
          </a:p>
          <a:p>
            <a:r>
              <a:rPr lang="en-US" dirty="0"/>
              <a:t>If no action is taken, you will be signed out after 60 seconds.</a:t>
            </a:r>
          </a:p>
          <a:p>
            <a:endParaRPr lang="en-US" dirty="0"/>
          </a:p>
        </p:txBody>
      </p:sp>
      <p:cxnSp>
        <p:nvCxnSpPr>
          <p:cNvPr id="8" name="Straight Arrow Connector 7">
            <a:extLst>
              <a:ext uri="{FF2B5EF4-FFF2-40B4-BE49-F238E27FC236}">
                <a16:creationId xmlns:a16="http://schemas.microsoft.com/office/drawing/2014/main" id="{58680B5A-FF8A-64BD-DC3A-FA8FDC527361}"/>
              </a:ext>
            </a:extLst>
          </p:cNvPr>
          <p:cNvCxnSpPr>
            <a:cxnSpLocks/>
            <a:stCxn id="6" idx="1"/>
          </p:cNvCxnSpPr>
          <p:nvPr/>
        </p:nvCxnSpPr>
        <p:spPr>
          <a:xfrm flipH="1" flipV="1">
            <a:off x="5705856" y="1975104"/>
            <a:ext cx="3667899" cy="159117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C96CC8A2-E34F-68AB-BC17-BF490BD6C08F}"/>
              </a:ext>
            </a:extLst>
          </p:cNvPr>
          <p:cNvCxnSpPr>
            <a:cxnSpLocks/>
          </p:cNvCxnSpPr>
          <p:nvPr/>
        </p:nvCxnSpPr>
        <p:spPr>
          <a:xfrm flipH="1" flipV="1">
            <a:off x="2862072" y="2267712"/>
            <a:ext cx="8321040" cy="116128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60516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F2574-2FD7-19C4-67EF-B0707B92FA5C}"/>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FC9AC7F2-3164-2596-8823-2A91C220B44F}"/>
              </a:ext>
            </a:extLst>
          </p:cNvPr>
          <p:cNvSpPr>
            <a:spLocks noGrp="1"/>
          </p:cNvSpPr>
          <p:nvPr>
            <p:ph idx="1"/>
          </p:nvPr>
        </p:nvSpPr>
        <p:spPr/>
        <p:txBody>
          <a:bodyPr/>
          <a:lstStyle/>
          <a:p>
            <a:r>
              <a:rPr lang="en-US" dirty="0"/>
              <a:t>link: </a:t>
            </a:r>
            <a:r>
              <a:rPr lang="en-US" dirty="0">
                <a:hlinkClick r:id="rId2"/>
              </a:rPr>
              <a:t>https://annotate-nlp.streamlit.app/</a:t>
            </a:r>
            <a:endParaRPr lang="en-US" dirty="0"/>
          </a:p>
          <a:p>
            <a:r>
              <a:rPr lang="en-US" b="1" dirty="0"/>
              <a:t>Bugs: </a:t>
            </a:r>
            <a:r>
              <a:rPr lang="en-US" dirty="0"/>
              <a:t>MdAbdullahAlForhad@my.unt.edu</a:t>
            </a:r>
          </a:p>
          <a:p>
            <a:endParaRPr lang="en-US" dirty="0"/>
          </a:p>
          <a:p>
            <a:endParaRPr lang="en-US" dirty="0"/>
          </a:p>
        </p:txBody>
      </p:sp>
    </p:spTree>
    <p:extLst>
      <p:ext uri="{BB962C8B-B14F-4D97-AF65-F5344CB8AC3E}">
        <p14:creationId xmlns:p14="http://schemas.microsoft.com/office/powerpoint/2010/main" val="19000549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7f4b8a2-ad4f-41b5-9a91-284d2cc38f56}" enabled="1" method="Standard" siteId="{70de1992-07c6-480f-a318-a1afcba03983}" removed="0"/>
</clbl:labelList>
</file>

<file path=docProps/app.xml><?xml version="1.0" encoding="utf-8"?>
<Properties xmlns="http://schemas.openxmlformats.org/officeDocument/2006/extended-properties" xmlns:vt="http://schemas.openxmlformats.org/officeDocument/2006/docPropsVTypes">
  <TotalTime>217</TotalTime>
  <Words>1127</Words>
  <Application>Microsoft Office PowerPoint</Application>
  <PresentationFormat>Widescreen</PresentationFormat>
  <Paragraphs>68</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Project Intro</vt:lpstr>
      <vt:lpstr>VQA: Visual Question Answering</vt:lpstr>
      <vt:lpstr>Question Types (i.e., Tasks)</vt:lpstr>
      <vt:lpstr>Question Types (i.e., Tasks)</vt:lpstr>
      <vt:lpstr>Composed Questions</vt:lpstr>
      <vt:lpstr>General Instructions </vt:lpstr>
      <vt:lpstr>General Instructions </vt:lpstr>
      <vt:lpstr>Your Task</vt:lpstr>
      <vt:lpstr>Landing Page</vt:lpstr>
      <vt:lpstr>After signing in, you will see this page. </vt:lpstr>
      <vt:lpstr>PowerPoint Presentation</vt:lpstr>
      <vt:lpstr>PowerPoint Presentation</vt:lpstr>
      <vt:lpstr>PowerPoint Presentation</vt:lpstr>
      <vt:lpstr>PowerPoint Presentation</vt:lpstr>
      <vt:lpstr>Annotation form</vt:lpstr>
      <vt:lpstr>PowerPoint Presentation</vt:lpstr>
      <vt:lpstr>PowerPoint Presentation</vt:lpstr>
      <vt:lpstr>PowerPoint Presentation</vt:lpstr>
      <vt:lpstr>PowerPoint Presentation</vt:lpstr>
      <vt:lpstr>PowerPoint Presentation</vt:lpstr>
      <vt:lpstr>Questions?</vt:lpstr>
    </vt:vector>
  </TitlesOfParts>
  <Company>University of North Texas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Forhad, Md Abdullah Al</dc:creator>
  <cp:lastModifiedBy>Forhad, Md Abdullah Al</cp:lastModifiedBy>
  <cp:revision>2</cp:revision>
  <dcterms:created xsi:type="dcterms:W3CDTF">2026-01-14T15:15:04Z</dcterms:created>
  <dcterms:modified xsi:type="dcterms:W3CDTF">2026-01-14T19:02:48Z</dcterms:modified>
</cp:coreProperties>
</file>